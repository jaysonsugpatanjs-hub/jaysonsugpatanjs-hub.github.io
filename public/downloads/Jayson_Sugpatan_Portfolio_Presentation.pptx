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37311d6f044ecc" /><Relationship Type="http://schemas.openxmlformats.org/officeDocument/2006/relationships/extended-properties" Target="/docProps/app.xml" Id="Rfcce168fcdf24c47" /><Relationship Type="http://schemas.openxmlformats.org/officeDocument/2006/relationships/officeDocument" Target="/ppt/presentation.xml" Id="Rfcbc4f9085844c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1e1063f0374c4b"/>
  </p:sldMasterIdLst>
  <p:notesMasterIdLst>
    <p:notesMasterId xmlns:r="http://schemas.openxmlformats.org/officeDocument/2006/relationships" r:id="R3595e50fffcb435a"/>
  </p:notesMasterIdLst>
  <p:sldIdLst>
    <p:sldId xmlns:r="http://schemas.openxmlformats.org/officeDocument/2006/relationships" id="256" r:id="Rae38343c3aea448c"/>
    <p:sldId xmlns:r="http://schemas.openxmlformats.org/officeDocument/2006/relationships" id="257" r:id="Ra16fc7fa02e946d8"/>
    <p:sldId xmlns:r="http://schemas.openxmlformats.org/officeDocument/2006/relationships" id="258" r:id="Rfac393eb63f14382"/>
    <p:sldId xmlns:r="http://schemas.openxmlformats.org/officeDocument/2006/relationships" id="259" r:id="R7e299d6ca06f476b"/>
    <p:sldId xmlns:r="http://schemas.openxmlformats.org/officeDocument/2006/relationships" id="260" r:id="R5666ebca53784dfa"/>
    <p:sldId xmlns:r="http://schemas.openxmlformats.org/officeDocument/2006/relationships" id="261" r:id="Rfe1f662e99014378"/>
    <p:sldId xmlns:r="http://schemas.openxmlformats.org/officeDocument/2006/relationships" id="262" r:id="R4d386759028542c1"/>
    <p:sldId xmlns:r="http://schemas.openxmlformats.org/officeDocument/2006/relationships" id="263" r:id="Ra331c958cbf644c6"/>
    <p:sldId xmlns:r="http://schemas.openxmlformats.org/officeDocument/2006/relationships" id="264" r:id="Rda3bc6b03f384cf0"/>
    <p:sldId xmlns:r="http://schemas.openxmlformats.org/officeDocument/2006/relationships" id="265" r:id="Rb66d774744d546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afabebfb904541" /><Relationship Type="http://schemas.openxmlformats.org/officeDocument/2006/relationships/slideMaster" Target="/ppt/slideMasters/slideMaster1.xml" Id="Ra81e1063f0374c4b" /><Relationship Type="http://schemas.openxmlformats.org/officeDocument/2006/relationships/notesMaster" Target="/ppt/notesMasters/notesMaster1.xml" Id="R3595e50fffcb435a" /><Relationship Type="http://schemas.openxmlformats.org/officeDocument/2006/relationships/presProps" Target="/ppt/presProps.xml" Id="R5af655a86b664f7b" /><Relationship Type="http://schemas.openxmlformats.org/officeDocument/2006/relationships/tableStyles" Target="/ppt/tableStyles.xml" Id="Rc3dcf8d673a247c6" /><Relationship Type="http://schemas.openxmlformats.org/officeDocument/2006/relationships/slide" Target="/ppt/slides/slide1.xml" Id="Rae38343c3aea448c" /><Relationship Type="http://schemas.openxmlformats.org/officeDocument/2006/relationships/slide" Target="/ppt/slides/slide2.xml" Id="Ra16fc7fa02e946d8" /><Relationship Type="http://schemas.openxmlformats.org/officeDocument/2006/relationships/slide" Target="/ppt/slides/slide3.xml" Id="Rfac393eb63f14382" /><Relationship Type="http://schemas.openxmlformats.org/officeDocument/2006/relationships/slide" Target="/ppt/slides/slide4.xml" Id="R7e299d6ca06f476b" /><Relationship Type="http://schemas.openxmlformats.org/officeDocument/2006/relationships/slide" Target="/ppt/slides/slide5.xml" Id="R5666ebca53784dfa" /><Relationship Type="http://schemas.openxmlformats.org/officeDocument/2006/relationships/slide" Target="/ppt/slides/slide6.xml" Id="Rfe1f662e99014378" /><Relationship Type="http://schemas.openxmlformats.org/officeDocument/2006/relationships/slide" Target="/ppt/slides/slide7.xml" Id="R4d386759028542c1" /><Relationship Type="http://schemas.openxmlformats.org/officeDocument/2006/relationships/slide" Target="/ppt/slides/slide8.xml" Id="Ra331c958cbf644c6" /><Relationship Type="http://schemas.openxmlformats.org/officeDocument/2006/relationships/slide" Target="/ppt/slides/slide9.xml" Id="Rda3bc6b03f384cf0" /><Relationship Type="http://schemas.openxmlformats.org/officeDocument/2006/relationships/slide" Target="/ppt/slides/slide10.xml" Id="Rb66d774744d546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7b65bdd12848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9f8ca7cbd54641" /><Relationship Type="http://schemas.openxmlformats.org/officeDocument/2006/relationships/notesMaster" Target="/ppt/notesMasters/notesMaster1.xml" Id="R18769bd3ca024a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10737365f24c72" /><Relationship Type="http://schemas.openxmlformats.org/officeDocument/2006/relationships/notesMaster" Target="/ppt/notesMasters/notesMaster1.xml" Id="R5ae59e02218a4d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6fc163ee5f4257" /><Relationship Type="http://schemas.openxmlformats.org/officeDocument/2006/relationships/notesMaster" Target="/ppt/notesMasters/notesMaster1.xml" Id="R20d7cc3b50194d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c4ea05b080478a" /><Relationship Type="http://schemas.openxmlformats.org/officeDocument/2006/relationships/notesMaster" Target="/ppt/notesMasters/notesMaster1.xml" Id="Rf0cf780c85d342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b5a55e96fc46d7" /><Relationship Type="http://schemas.openxmlformats.org/officeDocument/2006/relationships/notesMaster" Target="/ppt/notesMasters/notesMaster1.xml" Id="R0d3e102ff8cb4c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a4d0397d084844" /><Relationship Type="http://schemas.openxmlformats.org/officeDocument/2006/relationships/notesMaster" Target="/ppt/notesMasters/notesMaster1.xml" Id="R42923033ac0645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5659833f6f4e8b" /><Relationship Type="http://schemas.openxmlformats.org/officeDocument/2006/relationships/notesMaster" Target="/ppt/notesMasters/notesMaster1.xml" Id="R2b7583f1e2814f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72312b87e64850" /><Relationship Type="http://schemas.openxmlformats.org/officeDocument/2006/relationships/notesMaster" Target="/ppt/notesMasters/notesMaster1.xml" Id="R4dc770c36cf24e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6c58a13eb34c8d" /><Relationship Type="http://schemas.openxmlformats.org/officeDocument/2006/relationships/notesMaster" Target="/ppt/notesMasters/notesMaster1.xml" Id="R6c9faac668fb4d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acf17eb78143ee" /><Relationship Type="http://schemas.openxmlformats.org/officeDocument/2006/relationships/notesMaster" Target="/ppt/notesMasters/notesMaster1.xml" Id="R12a52b2f31a242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career and project history; no external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Open with the unifying idea: this portfolio connects engineering analysis with real operational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career and project history; no external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three working languages. The strength is not just having three skill sets; it is translating between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career and project history; no external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Frame the career path as an operating range, not a detour. Each stage adds a different perspective on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career and project history; no external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Present this as proof of method: Production flow and time study. Keep the distinction between documented output and claimed business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career and project history; no external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Present this as proof of method: ISO 9001:2015 readiness</a:t>
            </a:r>
          </a:p>
          <a:p xmlns:a="http://schemas.openxmlformats.org/drawingml/2006/main">
            <a:r>
              <a:t>review. Keep the distinction between documented output and claimed business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career and project history; no external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Present this as proof of method: Physical plant readiness program. Keep the distinction between documented output and claimed business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career and project history; no external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Use the labels Portfolio Study and System Design explicitly. The goal is to demonstrate capability without presenting planned work as completed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career and project history; no external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Connect the trade experience to engineering value. The point is not simply that fabrication was performed; it is how that experience improves systems thinking.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career and project history; no external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Close the evidence section by connecting credentials to the types of roles where this cross-functional profile is useful.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career and project history; no external assets.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End on the value proposition, then invite discussion about the audience's real operational needs.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2ee38fa624c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47a2da0539463c" /><Relationship Type="http://schemas.openxmlformats.org/officeDocument/2006/relationships/slideLayout" Target="/ppt/slideLayouts/slideLayout1.xml" Id="Red65e67519f745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65e67519f745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d413e5637496a" /><Relationship Type="http://schemas.openxmlformats.org/officeDocument/2006/relationships/notesSlide" Target="/ppt/notesSlides/notesSlide1.xml" Id="R115d64ecb15447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ae243a32a4ca7" /><Relationship Type="http://schemas.openxmlformats.org/officeDocument/2006/relationships/notesSlide" Target="/ppt/notesSlides/notesSlide2.xml" Id="R02f000c3afa747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10fb866b24da2" /><Relationship Type="http://schemas.openxmlformats.org/officeDocument/2006/relationships/notesSlide" Target="/ppt/notesSlides/notesSlide3.xml" Id="R81ff661e23494f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67744582a4a76" /><Relationship Type="http://schemas.openxmlformats.org/officeDocument/2006/relationships/notesSlide" Target="/ppt/notesSlides/notesSlide4.xml" Id="R1eb4c3b24ad14b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7bbad96a04847" /><Relationship Type="http://schemas.openxmlformats.org/officeDocument/2006/relationships/notesSlide" Target="/ppt/notesSlides/notesSlide5.xml" Id="R3b646b5fb66d45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ab4b63ed64a36" /><Relationship Type="http://schemas.openxmlformats.org/officeDocument/2006/relationships/notesSlide" Target="/ppt/notesSlides/notesSlide6.xml" Id="R6e9a2699796e45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4399bfa484a9c" /><Relationship Type="http://schemas.openxmlformats.org/officeDocument/2006/relationships/notesSlide" Target="/ppt/notesSlides/notesSlide7.xml" Id="Rceb772b30bf944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165e89f7b47d6" /><Relationship Type="http://schemas.openxmlformats.org/officeDocument/2006/relationships/notesSlide" Target="/ppt/notesSlides/notesSlide8.xml" Id="R2f887491f0ce4e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4b68278f14c4f" /><Relationship Type="http://schemas.openxmlformats.org/officeDocument/2006/relationships/notesSlide" Target="/ppt/notesSlides/notesSlide9.xml" Id="R136e7cea57d040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d7d54515a4e42" /><Relationship Type="http://schemas.openxmlformats.org/officeDocument/2006/relationships/notesSlide" Target="/ppt/notesSlides/notesSlide10.xml" Id="R34347a8acf3844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label-left">
            <a:extLst xmlns:a="http://schemas.openxmlformats.org/drawingml/2006/main">
              <a:ext uri="{FF2B5EF4-FFF2-40B4-BE49-F238E27FC236}">
                <a16:creationId xmlns:a16="http://schemas.microsoft.com/office/drawing/2014/main" id="{EBBC93A4-5657-4189-9931-6457429D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INDUSTRIAL ENGINEER</a:t>
            </a:r>
          </a:p>
        </p:txBody>
      </p:sp>
      <p:sp>
        <p:nvSpPr>
          <p:cNvPr id="2" name="cover-label-right">
            <a:extLst xmlns:a="http://schemas.openxmlformats.org/drawingml/2006/main">
              <a:ext uri="{FF2B5EF4-FFF2-40B4-BE49-F238E27FC236}">
                <a16:creationId xmlns:a16="http://schemas.microsoft.com/office/drawing/2014/main" id="{32E0FFB4-28A5-44A4-8D0B-5ECFEAEB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"/>
            <a:ext cx="2990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PORTFOLIO / 2026</a:t>
            </a:r>
          </a:p>
        </p:txBody>
      </p:sp>
      <p:sp>
        <p:nvSpPr>
          <p:cNvPr id="3" name="cover-signal">
            <a:extLst xmlns:a="http://schemas.openxmlformats.org/drawingml/2006/main">
              <a:ext uri="{FF2B5EF4-FFF2-40B4-BE49-F238E27FC236}">
                <a16:creationId xmlns:a16="http://schemas.microsoft.com/office/drawing/2014/main" id="{19A8B8E9-1734-4FA4-8222-1D7325B7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143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32DC3A8-0064-4B4A-8E50-3076AD95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847725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Jayson P.
Sugpatan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DCF54FA-0512-4C2D-A647-126DBDF8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971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3C"/>
                </a:solidFill>
                <a:latin typeface="Arial"/>
                <a:ea typeface="Arial"/>
                <a:cs typeface="Arial"/>
              </a:defRPr>
            </a:pPr>
            <a:r>
              <a:t>Operations improvement  ·  Data analysis  ·  Workflow design  ·  Fabrication</a:t>
            </a:r>
          </a:p>
        </p:txBody>
      </p:sp>
    </p:spTree>
    <p:extLst>
      <p:ext uri="{BB962C8B-B14F-4D97-AF65-F5344CB8AC3E}">
        <p14:creationId xmlns:p14="http://schemas.microsoft.com/office/powerpoint/2010/main" val="6282894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rofile-title">
            <a:extLst xmlns:a="http://schemas.openxmlformats.org/drawingml/2006/main">
              <a:ext uri="{FF2B5EF4-FFF2-40B4-BE49-F238E27FC236}">
                <a16:creationId xmlns:a16="http://schemas.microsoft.com/office/drawing/2014/main" id="{52610075-254D-4F5B-9C47-BC9E6CD8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I turn real work into clearer systems.</a:t>
            </a:r>
          </a:p>
        </p:txBody>
      </p:sp>
      <p:sp>
        <p:nvSpPr>
          <p:cNvPr id="2" name="profile-lead">
            <a:extLst xmlns:a="http://schemas.openxmlformats.org/drawingml/2006/main">
              <a:ext uri="{FF2B5EF4-FFF2-40B4-BE49-F238E27FC236}">
                <a16:creationId xmlns:a16="http://schemas.microsoft.com/office/drawing/2014/main" id="{D0B87A8C-D463-4C71-BCFF-78A3F4AA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081087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I connect shop-floor experience, industrial engineering, and workflow design—so teams can see the work, improve it, and manage it with confidence.</a:t>
            </a:r>
          </a:p>
        </p:txBody>
      </p:sp>
      <p:sp>
        <p:nvSpPr>
          <p:cNvPr id="3" name="profile-panel-01">
            <a:extLst xmlns:a="http://schemas.openxmlformats.org/drawingml/2006/main">
              <a:ext uri="{FF2B5EF4-FFF2-40B4-BE49-F238E27FC236}">
                <a16:creationId xmlns:a16="http://schemas.microsoft.com/office/drawing/2014/main" id="{3516C928-C08C-4952-97BB-E93A30B4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5814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4" name="profile-number-01">
            <a:extLst xmlns:a="http://schemas.openxmlformats.org/drawingml/2006/main">
              <a:ext uri="{FF2B5EF4-FFF2-40B4-BE49-F238E27FC236}">
                <a16:creationId xmlns:a16="http://schemas.microsoft.com/office/drawing/2014/main" id="{7D88B162-175D-4DD7-BA87-2553EF9F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5" name="profile-heading-01">
            <a:extLst xmlns:a="http://schemas.openxmlformats.org/drawingml/2006/main">
              <a:ext uri="{FF2B5EF4-FFF2-40B4-BE49-F238E27FC236}">
                <a16:creationId xmlns:a16="http://schemas.microsoft.com/office/drawing/2014/main" id="{1D4C1927-937A-4853-A0CA-8BDC095D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OPERATIONS</a:t>
            </a:r>
          </a:p>
        </p:txBody>
      </p:sp>
      <p:sp>
        <p:nvSpPr>
          <p:cNvPr id="6" name="profile-body-01">
            <a:extLst xmlns:a="http://schemas.openxmlformats.org/drawingml/2006/main">
              <a:ext uri="{FF2B5EF4-FFF2-40B4-BE49-F238E27FC236}">
                <a16:creationId xmlns:a16="http://schemas.microsoft.com/office/drawing/2014/main" id="{0C9B9123-50F2-4BFE-A31A-6D2410E5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Flow, quality, standard work, facilities, and continuous improvement.</a:t>
            </a:r>
          </a:p>
        </p:txBody>
      </p:sp>
      <p:sp>
        <p:nvSpPr>
          <p:cNvPr id="7" name="profile-panel-02">
            <a:extLst xmlns:a="http://schemas.openxmlformats.org/drawingml/2006/main">
              <a:ext uri="{FF2B5EF4-FFF2-40B4-BE49-F238E27FC236}">
                <a16:creationId xmlns:a16="http://schemas.microsoft.com/office/drawing/2014/main" id="{C87D7DC2-4418-4ED4-BAA3-C7115225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5814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A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8" name="profile-number-02">
            <a:extLst xmlns:a="http://schemas.openxmlformats.org/drawingml/2006/main">
              <a:ext uri="{FF2B5EF4-FFF2-40B4-BE49-F238E27FC236}">
                <a16:creationId xmlns:a16="http://schemas.microsoft.com/office/drawing/2014/main" id="{D18E99C6-D9B8-416F-993A-69B2BB46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814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9" name="profile-heading-02">
            <a:extLst xmlns:a="http://schemas.openxmlformats.org/drawingml/2006/main">
              <a:ext uri="{FF2B5EF4-FFF2-40B4-BE49-F238E27FC236}">
                <a16:creationId xmlns:a16="http://schemas.microsoft.com/office/drawing/2014/main" id="{BEA8789A-B08A-4164-B31F-8740099A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7195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DATA</a:t>
            </a:r>
          </a:p>
        </p:txBody>
      </p:sp>
      <p:sp>
        <p:nvSpPr>
          <p:cNvPr id="10" name="profile-body-02">
            <a:extLst xmlns:a="http://schemas.openxmlformats.org/drawingml/2006/main">
              <a:ext uri="{FF2B5EF4-FFF2-40B4-BE49-F238E27FC236}">
                <a16:creationId xmlns:a16="http://schemas.microsoft.com/office/drawing/2014/main" id="{62BF2D5E-23FC-465B-87E2-DC968CBB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1487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Descriptive analysis, reporting, KPI logic, and business-facing interpretation.</a:t>
            </a:r>
          </a:p>
        </p:txBody>
      </p:sp>
      <p:sp>
        <p:nvSpPr>
          <p:cNvPr id="11" name="profile-panel-03">
            <a:extLst xmlns:a="http://schemas.openxmlformats.org/drawingml/2006/main">
              <a:ext uri="{FF2B5EF4-FFF2-40B4-BE49-F238E27FC236}">
                <a16:creationId xmlns:a16="http://schemas.microsoft.com/office/drawing/2014/main" id="{07147FCB-6C0E-402C-852E-727B1771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5814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A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12" name="profile-number-03">
            <a:extLst xmlns:a="http://schemas.openxmlformats.org/drawingml/2006/main">
              <a:ext uri="{FF2B5EF4-FFF2-40B4-BE49-F238E27FC236}">
                <a16:creationId xmlns:a16="http://schemas.microsoft.com/office/drawing/2014/main" id="{71284343-3608-41A4-A71C-0A37A002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81400"/>
            <a:ext cx="495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profile-heading-03">
            <a:extLst xmlns:a="http://schemas.openxmlformats.org/drawingml/2006/main">
              <a:ext uri="{FF2B5EF4-FFF2-40B4-BE49-F238E27FC236}">
                <a16:creationId xmlns:a16="http://schemas.microsoft.com/office/drawing/2014/main" id="{4D1A5B1F-F768-46A0-B959-682A322B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FABRICATION</a:t>
            </a:r>
          </a:p>
        </p:txBody>
      </p:sp>
      <p:sp>
        <p:nvSpPr>
          <p:cNvPr id="14" name="profile-body-03">
            <a:extLst xmlns:a="http://schemas.openxmlformats.org/drawingml/2006/main">
              <a:ext uri="{FF2B5EF4-FFF2-40B4-BE49-F238E27FC236}">
                <a16:creationId xmlns:a16="http://schemas.microsoft.com/office/drawing/2014/main" id="{575D4F44-15C9-4C4F-B715-A97E1B2A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1487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MIG work, production equipment, drawings, handling, and field constraints.</a:t>
            </a:r>
          </a:p>
        </p:txBody>
      </p:sp>
      <p:sp>
        <p:nvSpPr>
          <p:cNvPr id="15" name="footer-2">
            <a:extLst xmlns:a="http://schemas.openxmlformats.org/drawingml/2006/main">
              <a:ext uri="{FF2B5EF4-FFF2-40B4-BE49-F238E27FC236}">
                <a16:creationId xmlns:a16="http://schemas.microsoft.com/office/drawing/2014/main" id="{37E5C9BD-40C9-4639-9687-EBC15107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JAYSON P. SUGPATAN  /  PORTFOLIO</a:t>
            </a:r>
          </a:p>
        </p:txBody>
      </p:sp>
      <p:sp>
        <p:nvSpPr>
          <p:cNvPr id="16" name="page-2">
            <a:extLst xmlns:a="http://schemas.openxmlformats.org/drawingml/2006/main">
              <a:ext uri="{FF2B5EF4-FFF2-40B4-BE49-F238E27FC236}">
                <a16:creationId xmlns:a16="http://schemas.microsoft.com/office/drawing/2014/main" id="{35E1A9EF-DD68-4C41-9E84-7EABAD21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25392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rajectory-title">
            <a:extLst xmlns:a="http://schemas.openxmlformats.org/drawingml/2006/main">
              <a:ext uri="{FF2B5EF4-FFF2-40B4-BE49-F238E27FC236}">
                <a16:creationId xmlns:a16="http://schemas.microsoft.com/office/drawing/2014/main" id="{196B0817-084E-4E8E-9F39-553708F2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049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A career built across analysis, leadership, and the field</a:t>
            </a:r>
          </a:p>
        </p:txBody>
      </p:sp>
      <p:cxnSp>
        <p:nvCxnSpPr>
          <p:cNvPr id="18" name="trajectory-line"/>
          <p:cNvCxnSpPr/>
          <p:nvPr/>
        </p:nvCxnSpPr>
        <p:spPr>
          <a:xfrm xmlns:a="http://schemas.openxmlformats.org/drawingml/2006/main">
            <a:off x="400050" y="3371850"/>
            <a:ext cx="113919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512"/>
            </a:solidFill>
            <a:prstDash val="solid"/>
          </a:ln>
        </p:spPr>
      </p:cxnSp>
      <p:sp>
        <p:nvSpPr>
          <p:cNvPr id="3" name="trajectory-node-2017–18">
            <a:extLst xmlns:a="http://schemas.openxmlformats.org/drawingml/2006/main">
              <a:ext uri="{FF2B5EF4-FFF2-40B4-BE49-F238E27FC236}">
                <a16:creationId xmlns:a16="http://schemas.microsoft.com/office/drawing/2014/main" id="{F2F43363-D698-49FD-9E6D-8E137769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512"/>
          </a:solidFill>
        </p:spPr>
      </p:sp>
      <p:sp>
        <p:nvSpPr>
          <p:cNvPr id="4" name="trajectory-date-2017–18">
            <a:extLst xmlns:a="http://schemas.openxmlformats.org/drawingml/2006/main">
              <a:ext uri="{FF2B5EF4-FFF2-40B4-BE49-F238E27FC236}">
                <a16:creationId xmlns:a16="http://schemas.microsoft.com/office/drawing/2014/main" id="{7265362E-B02A-4067-9F9A-BC269450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2017–18</a:t>
            </a:r>
          </a:p>
        </p:txBody>
      </p:sp>
      <p:sp>
        <p:nvSpPr>
          <p:cNvPr id="5" name="trajectory-heading-2017–18">
            <a:extLst xmlns:a="http://schemas.openxmlformats.org/drawingml/2006/main">
              <a:ext uri="{FF2B5EF4-FFF2-40B4-BE49-F238E27FC236}">
                <a16:creationId xmlns:a16="http://schemas.microsoft.com/office/drawing/2014/main" id="{2C406B2A-0B80-4713-B175-8395DDE4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3238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3C"/>
                </a:solidFill>
                <a:latin typeface="Arial"/>
                <a:ea typeface="Arial"/>
                <a:cs typeface="Arial"/>
              </a:defRPr>
            </a:pPr>
            <a:r>
              <a:t>Production analysis</a:t>
            </a:r>
          </a:p>
        </p:txBody>
      </p:sp>
      <p:sp>
        <p:nvSpPr>
          <p:cNvPr id="6" name="trajectory-body-2017–18">
            <a:extLst xmlns:a="http://schemas.openxmlformats.org/drawingml/2006/main">
              <a:ext uri="{FF2B5EF4-FFF2-40B4-BE49-F238E27FC236}">
                <a16:creationId xmlns:a16="http://schemas.microsoft.com/office/drawing/2014/main" id="{A8D20CF5-F099-4889-A7E9-94E015E3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219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Time study, process observation, and bottleneck analysis at Cargill Joy Poultry Meats.</a:t>
            </a:r>
          </a:p>
        </p:txBody>
      </p:sp>
      <p:sp>
        <p:nvSpPr>
          <p:cNvPr id="7" name="trajectory-node-2018–22">
            <a:extLst xmlns:a="http://schemas.openxmlformats.org/drawingml/2006/main">
              <a:ext uri="{FF2B5EF4-FFF2-40B4-BE49-F238E27FC236}">
                <a16:creationId xmlns:a16="http://schemas.microsoft.com/office/drawing/2014/main" id="{119F4FDD-3CA3-4E8A-BA97-63739BF9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512"/>
          </a:solidFill>
        </p:spPr>
      </p:sp>
      <p:sp>
        <p:nvSpPr>
          <p:cNvPr id="8" name="trajectory-date-2018–22">
            <a:extLst xmlns:a="http://schemas.openxmlformats.org/drawingml/2006/main">
              <a:ext uri="{FF2B5EF4-FFF2-40B4-BE49-F238E27FC236}">
                <a16:creationId xmlns:a16="http://schemas.microsoft.com/office/drawing/2014/main" id="{214F051A-39CE-48E5-8DDF-B5C74B4C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2018–22</a:t>
            </a:r>
          </a:p>
        </p:txBody>
      </p:sp>
      <p:sp>
        <p:nvSpPr>
          <p:cNvPr id="9" name="trajectory-heading-2018–22">
            <a:extLst xmlns:a="http://schemas.openxmlformats.org/drawingml/2006/main">
              <a:ext uri="{FF2B5EF4-FFF2-40B4-BE49-F238E27FC236}">
                <a16:creationId xmlns:a16="http://schemas.microsoft.com/office/drawing/2014/main" id="{999C358D-9D74-4C31-92B7-94E4CC1B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3238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3C"/>
                </a:solidFill>
                <a:latin typeface="Arial"/>
                <a:ea typeface="Arial"/>
                <a:cs typeface="Arial"/>
              </a:defRPr>
            </a:pPr>
            <a:r>
              <a:t>Facilities leadership</a:t>
            </a:r>
          </a:p>
        </p:txBody>
      </p:sp>
      <p:sp>
        <p:nvSpPr>
          <p:cNvPr id="10" name="trajectory-body-2018–22">
            <a:extLst xmlns:a="http://schemas.openxmlformats.org/drawingml/2006/main">
              <a:ext uri="{FF2B5EF4-FFF2-40B4-BE49-F238E27FC236}">
                <a16:creationId xmlns:a16="http://schemas.microsoft.com/office/drawing/2014/main" id="{9B93B760-B125-49EE-8396-3659541D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3219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Property management, procurement, ISO 9001, safety, and accreditation readiness.</a:t>
            </a:r>
          </a:p>
        </p:txBody>
      </p:sp>
      <p:sp>
        <p:nvSpPr>
          <p:cNvPr id="11" name="trajectory-node-2023–NOW">
            <a:extLst xmlns:a="http://schemas.openxmlformats.org/drawingml/2006/main">
              <a:ext uri="{FF2B5EF4-FFF2-40B4-BE49-F238E27FC236}">
                <a16:creationId xmlns:a16="http://schemas.microsoft.com/office/drawing/2014/main" id="{53E1BB06-B5FD-4565-908F-47DB55FE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</p:spPr>
      </p:sp>
      <p:sp>
        <p:nvSpPr>
          <p:cNvPr id="12" name="trajectory-date-2023–NOW">
            <a:extLst xmlns:a="http://schemas.openxmlformats.org/drawingml/2006/main">
              <a:ext uri="{FF2B5EF4-FFF2-40B4-BE49-F238E27FC236}">
                <a16:creationId xmlns:a16="http://schemas.microsoft.com/office/drawing/2014/main" id="{EB70E1A1-4A86-4C17-BDEA-6E0F90F5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2023–NOW</a:t>
            </a:r>
          </a:p>
        </p:txBody>
      </p:sp>
      <p:sp>
        <p:nvSpPr>
          <p:cNvPr id="13" name="trajectory-heading-2023–NOW">
            <a:extLst xmlns:a="http://schemas.openxmlformats.org/drawingml/2006/main">
              <a:ext uri="{FF2B5EF4-FFF2-40B4-BE49-F238E27FC236}">
                <a16:creationId xmlns:a16="http://schemas.microsoft.com/office/drawing/2014/main" id="{132B8FBB-F219-4CAB-BDC5-D43D5A23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10000"/>
            <a:ext cx="3238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3C"/>
                </a:solidFill>
                <a:latin typeface="Arial"/>
                <a:ea typeface="Arial"/>
                <a:cs typeface="Arial"/>
              </a:defRPr>
            </a:pPr>
            <a:r>
              <a:t>Shop floor + digital systems</a:t>
            </a:r>
          </a:p>
        </p:txBody>
      </p:sp>
      <p:sp>
        <p:nvSpPr>
          <p:cNvPr id="14" name="trajectory-body-2023–NOW">
            <a:extLst xmlns:a="http://schemas.openxmlformats.org/drawingml/2006/main">
              <a:ext uri="{FF2B5EF4-FFF2-40B4-BE49-F238E27FC236}">
                <a16:creationId xmlns:a16="http://schemas.microsoft.com/office/drawing/2014/main" id="{56FE4177-C624-4A83-82A2-9CE96E62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3219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Australian fabrication experience followed by data, documentation, and workflow design.</a:t>
            </a:r>
          </a:p>
        </p:txBody>
      </p:sp>
      <p:sp>
        <p:nvSpPr>
          <p:cNvPr id="15" name="footer-3">
            <a:extLst xmlns:a="http://schemas.openxmlformats.org/drawingml/2006/main">
              <a:ext uri="{FF2B5EF4-FFF2-40B4-BE49-F238E27FC236}">
                <a16:creationId xmlns:a16="http://schemas.microsoft.com/office/drawing/2014/main" id="{A4698392-2656-4163-B3B8-B25F5BFA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JAYSON P. SUGPATAN  /  PORTFOLIO</a:t>
            </a:r>
          </a:p>
        </p:txBody>
      </p:sp>
      <p:sp>
        <p:nvSpPr>
          <p:cNvPr id="16" name="page-3">
            <a:extLst xmlns:a="http://schemas.openxmlformats.org/drawingml/2006/main">
              <a:ext uri="{FF2B5EF4-FFF2-40B4-BE49-F238E27FC236}">
                <a16:creationId xmlns:a16="http://schemas.microsoft.com/office/drawing/2014/main" id="{F09A5762-EB0E-4B11-BC5E-92B491DD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008155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ase-label-4">
            <a:extLst xmlns:a="http://schemas.openxmlformats.org/drawingml/2006/main">
              <a:ext uri="{FF2B5EF4-FFF2-40B4-BE49-F238E27FC236}">
                <a16:creationId xmlns:a16="http://schemas.microsoft.com/office/drawing/2014/main" id="{EB3C7B6B-A081-4874-9F83-BE8AEA7A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CASE STUDY 01</a:t>
            </a:r>
          </a:p>
        </p:txBody>
      </p:sp>
      <p:sp>
        <p:nvSpPr>
          <p:cNvPr id="2" name="case-title-4">
            <a:extLst xmlns:a="http://schemas.openxmlformats.org/drawingml/2006/main">
              <a:ext uri="{FF2B5EF4-FFF2-40B4-BE49-F238E27FC236}">
                <a16:creationId xmlns:a16="http://schemas.microsoft.com/office/drawing/2014/main" id="{AFE6967A-E4FA-4EB5-9B54-839ACB50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871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8323C"/>
                </a:solidFill>
                <a:latin typeface="Arial"/>
                <a:ea typeface="Arial"/>
                <a:cs typeface="Arial"/>
              </a:defRPr>
            </a:pPr>
            <a:r>
              <a:t>Production flow and time study</a:t>
            </a:r>
          </a:p>
        </p:txBody>
      </p:sp>
      <p:sp>
        <p:nvSpPr>
          <p:cNvPr id="3" name="case-org-4">
            <a:extLst xmlns:a="http://schemas.openxmlformats.org/drawingml/2006/main">
              <a:ext uri="{FF2B5EF4-FFF2-40B4-BE49-F238E27FC236}">
                <a16:creationId xmlns:a16="http://schemas.microsoft.com/office/drawing/2014/main" id="{D4FE1B5F-1196-42B2-BA15-ED0EB457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Cargill Joy Poultry Meats · 2018</a:t>
            </a:r>
          </a:p>
        </p:txBody>
      </p:sp>
      <p:sp>
        <p:nvSpPr>
          <p:cNvPr id="4" name="case-lead-4">
            <a:extLst xmlns:a="http://schemas.openxmlformats.org/drawingml/2006/main">
              <a:ext uri="{FF2B5EF4-FFF2-40B4-BE49-F238E27FC236}">
                <a16:creationId xmlns:a16="http://schemas.microsoft.com/office/drawing/2014/main" id="{1B9DB82F-7769-493F-8E55-DECBA315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0858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Mapped work at task level to expose bottlenecks and make standard work easier to define.</a:t>
            </a:r>
          </a:p>
        </p:txBody>
      </p:sp>
      <p:sp>
        <p:nvSpPr>
          <p:cNvPr id="5" name="case-panel-4-0">
            <a:extLst xmlns:a="http://schemas.openxmlformats.org/drawingml/2006/main">
              <a:ext uri="{FF2B5EF4-FFF2-40B4-BE49-F238E27FC236}">
                <a16:creationId xmlns:a16="http://schemas.microsoft.com/office/drawing/2014/main" id="{056C3244-59A0-4915-8D05-0B47BC81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A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6" name="case-card-label-4-0">
            <a:extLst xmlns:a="http://schemas.openxmlformats.org/drawingml/2006/main">
              <a:ext uri="{FF2B5EF4-FFF2-40B4-BE49-F238E27FC236}">
                <a16:creationId xmlns:a16="http://schemas.microsoft.com/office/drawing/2014/main" id="{F83156D9-E4FC-4683-867E-8B0E4DBA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CHALLENGE</a:t>
            </a:r>
          </a:p>
        </p:txBody>
      </p:sp>
      <p:sp>
        <p:nvSpPr>
          <p:cNvPr id="7" name="case-card-title-4-0">
            <a:extLst xmlns:a="http://schemas.openxmlformats.org/drawingml/2006/main">
              <a:ext uri="{FF2B5EF4-FFF2-40B4-BE49-F238E27FC236}">
                <a16:creationId xmlns:a16="http://schemas.microsoft.com/office/drawing/2014/main" id="{C528CC42-5934-4899-954D-9F50D3D9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2971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See the real flow</a:t>
            </a:r>
          </a:p>
        </p:txBody>
      </p:sp>
      <p:sp>
        <p:nvSpPr>
          <p:cNvPr id="8" name="case-card-body-4-0">
            <a:extLst xmlns:a="http://schemas.openxmlformats.org/drawingml/2006/main">
              <a:ext uri="{FF2B5EF4-FFF2-40B4-BE49-F238E27FC236}">
                <a16:creationId xmlns:a16="http://schemas.microsoft.com/office/drawing/2014/main" id="{E6F21551-D36E-452D-9264-568C9C51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971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Work content and constraints needed a task-level evidence base.</a:t>
            </a:r>
          </a:p>
        </p:txBody>
      </p:sp>
      <p:sp>
        <p:nvSpPr>
          <p:cNvPr id="9" name="case-panel-4-1">
            <a:extLst xmlns:a="http://schemas.openxmlformats.org/drawingml/2006/main">
              <a:ext uri="{FF2B5EF4-FFF2-40B4-BE49-F238E27FC236}">
                <a16:creationId xmlns:a16="http://schemas.microsoft.com/office/drawing/2014/main" id="{0D802C1D-8A9F-41B2-8D00-27BEEEF2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10" name="case-card-label-4-1">
            <a:extLst xmlns:a="http://schemas.openxmlformats.org/drawingml/2006/main">
              <a:ext uri="{FF2B5EF4-FFF2-40B4-BE49-F238E27FC236}">
                <a16:creationId xmlns:a16="http://schemas.microsoft.com/office/drawing/2014/main" id="{76A7898D-46A7-4679-BF6F-EB6D7B72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METHOD</a:t>
            </a:r>
          </a:p>
        </p:txBody>
      </p:sp>
      <p:sp>
        <p:nvSpPr>
          <p:cNvPr id="11" name="case-card-title-4-1">
            <a:extLst xmlns:a="http://schemas.openxmlformats.org/drawingml/2006/main">
              <a:ext uri="{FF2B5EF4-FFF2-40B4-BE49-F238E27FC236}">
                <a16:creationId xmlns:a16="http://schemas.microsoft.com/office/drawing/2014/main" id="{A69AFAB4-9827-452C-A44E-BA3265A1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2971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Break down the work</a:t>
            </a:r>
          </a:p>
        </p:txBody>
      </p:sp>
      <p:sp>
        <p:nvSpPr>
          <p:cNvPr id="12" name="case-card-body-4-1">
            <a:extLst xmlns:a="http://schemas.openxmlformats.org/drawingml/2006/main">
              <a:ext uri="{FF2B5EF4-FFF2-40B4-BE49-F238E27FC236}">
                <a16:creationId xmlns:a16="http://schemas.microsoft.com/office/drawing/2014/main" id="{187CEA7E-154C-49A9-9A96-101E8BF1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2971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Therbligs · process charts · time study · layout review.</a:t>
            </a:r>
          </a:p>
        </p:txBody>
      </p:sp>
      <p:sp>
        <p:nvSpPr>
          <p:cNvPr id="13" name="case-panel-4-2">
            <a:extLst xmlns:a="http://schemas.openxmlformats.org/drawingml/2006/main">
              <a:ext uri="{FF2B5EF4-FFF2-40B4-BE49-F238E27FC236}">
                <a16:creationId xmlns:a16="http://schemas.microsoft.com/office/drawing/2014/main" id="{3FAAD626-82B0-4B88-AD3C-816D8204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A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14" name="case-card-label-4-2">
            <a:extLst xmlns:a="http://schemas.openxmlformats.org/drawingml/2006/main">
              <a:ext uri="{FF2B5EF4-FFF2-40B4-BE49-F238E27FC236}">
                <a16:creationId xmlns:a16="http://schemas.microsoft.com/office/drawing/2014/main" id="{CCBED3E5-63C4-47CB-A204-0E3C9EB5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OUTPUT</a:t>
            </a:r>
          </a:p>
        </p:txBody>
      </p:sp>
      <p:sp>
        <p:nvSpPr>
          <p:cNvPr id="15" name="case-card-title-4-2">
            <a:extLst xmlns:a="http://schemas.openxmlformats.org/drawingml/2006/main">
              <a:ext uri="{FF2B5EF4-FFF2-40B4-BE49-F238E27FC236}">
                <a16:creationId xmlns:a16="http://schemas.microsoft.com/office/drawing/2014/main" id="{016446B6-D19A-4E1F-915F-06C34985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52900"/>
            <a:ext cx="2971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Structure the decision</a:t>
            </a:r>
          </a:p>
        </p:txBody>
      </p:sp>
      <p:sp>
        <p:nvSpPr>
          <p:cNvPr id="16" name="case-card-body-4-2">
            <a:extLst xmlns:a="http://schemas.openxmlformats.org/drawingml/2006/main">
              <a:ext uri="{FF2B5EF4-FFF2-40B4-BE49-F238E27FC236}">
                <a16:creationId xmlns:a16="http://schemas.microsoft.com/office/drawing/2014/main" id="{15980676-005D-4D22-BBB2-38342ED4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971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Documented process logic, constraints, and improvement priorities.</a:t>
            </a:r>
          </a:p>
        </p:txBody>
      </p:sp>
      <p:sp>
        <p:nvSpPr>
          <p:cNvPr id="17" name="footer-4">
            <a:extLst xmlns:a="http://schemas.openxmlformats.org/drawingml/2006/main">
              <a:ext uri="{FF2B5EF4-FFF2-40B4-BE49-F238E27FC236}">
                <a16:creationId xmlns:a16="http://schemas.microsoft.com/office/drawing/2014/main" id="{4ACF0D3C-0C21-48E8-BB3D-99DEB6A4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JAYSON P. SUGPATAN  /  PORTFOLIO</a:t>
            </a:r>
          </a:p>
        </p:txBody>
      </p:sp>
      <p:sp>
        <p:nvSpPr>
          <p:cNvPr id="18" name="page-4">
            <a:extLst xmlns:a="http://schemas.openxmlformats.org/drawingml/2006/main">
              <a:ext uri="{FF2B5EF4-FFF2-40B4-BE49-F238E27FC236}">
                <a16:creationId xmlns:a16="http://schemas.microsoft.com/office/drawing/2014/main" id="{F6A11580-6E7E-4C28-92BB-BFCEEB5C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5887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ase-label-5">
            <a:extLst xmlns:a="http://schemas.openxmlformats.org/drawingml/2006/main">
              <a:ext uri="{FF2B5EF4-FFF2-40B4-BE49-F238E27FC236}">
                <a16:creationId xmlns:a16="http://schemas.microsoft.com/office/drawing/2014/main" id="{29EDA081-BB31-4FE9-9236-EA19470C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CASE STUDY 02</a:t>
            </a:r>
          </a:p>
        </p:txBody>
      </p:sp>
      <p:sp>
        <p:nvSpPr>
          <p:cNvPr id="2" name="case-title-5">
            <a:extLst xmlns:a="http://schemas.openxmlformats.org/drawingml/2006/main">
              <a:ext uri="{FF2B5EF4-FFF2-40B4-BE49-F238E27FC236}">
                <a16:creationId xmlns:a16="http://schemas.microsoft.com/office/drawing/2014/main" id="{E54E8FFE-CF18-4263-8824-FA146FD6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8712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323C"/>
                </a:solidFill>
                <a:latin typeface="Arial"/>
                <a:ea typeface="Arial"/>
                <a:cs typeface="Arial"/>
              </a:defRPr>
            </a:pPr>
            <a:r>
              <a:t>ISO 9001:2015 readiness
review</a:t>
            </a:r>
          </a:p>
        </p:txBody>
      </p:sp>
      <p:sp>
        <p:nvSpPr>
          <p:cNvPr id="3" name="case-org-5">
            <a:extLst xmlns:a="http://schemas.openxmlformats.org/drawingml/2006/main">
              <a:ext uri="{FF2B5EF4-FFF2-40B4-BE49-F238E27FC236}">
                <a16:creationId xmlns:a16="http://schemas.microsoft.com/office/drawing/2014/main" id="{C319FB42-A902-4771-B120-873D26B5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Pamantasan ng Cabuyao · 2020</a:t>
            </a:r>
          </a:p>
        </p:txBody>
      </p:sp>
      <p:sp>
        <p:nvSpPr>
          <p:cNvPr id="4" name="case-lead-5">
            <a:extLst xmlns:a="http://schemas.openxmlformats.org/drawingml/2006/main">
              <a:ext uri="{FF2B5EF4-FFF2-40B4-BE49-F238E27FC236}">
                <a16:creationId xmlns:a16="http://schemas.microsoft.com/office/drawing/2014/main" id="{61DAAC67-97AC-480B-B878-F44DB454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10858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Converted a quality-system gap review into a practical compliance roadmap for property and general services.</a:t>
            </a:r>
          </a:p>
        </p:txBody>
      </p:sp>
      <p:sp>
        <p:nvSpPr>
          <p:cNvPr id="5" name="case-panel-5-0">
            <a:extLst xmlns:a="http://schemas.openxmlformats.org/drawingml/2006/main">
              <a:ext uri="{FF2B5EF4-FFF2-40B4-BE49-F238E27FC236}">
                <a16:creationId xmlns:a16="http://schemas.microsoft.com/office/drawing/2014/main" id="{1616E6CB-564B-49CB-90B5-DE8F482A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6" name="case-card-label-5-0">
            <a:extLst xmlns:a="http://schemas.openxmlformats.org/drawingml/2006/main">
              <a:ext uri="{FF2B5EF4-FFF2-40B4-BE49-F238E27FC236}">
                <a16:creationId xmlns:a16="http://schemas.microsoft.com/office/drawing/2014/main" id="{2B82A086-4052-4A07-8AE9-105B0020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BASELINE</a:t>
            </a:r>
          </a:p>
        </p:txBody>
      </p:sp>
      <p:sp>
        <p:nvSpPr>
          <p:cNvPr id="7" name="case-card-title-5-0">
            <a:extLst xmlns:a="http://schemas.openxmlformats.org/drawingml/2006/main">
              <a:ext uri="{FF2B5EF4-FFF2-40B4-BE49-F238E27FC236}">
                <a16:creationId xmlns:a16="http://schemas.microsoft.com/office/drawing/2014/main" id="{26558E73-EB7D-4885-85CB-3A02C56F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2971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58.43%</a:t>
            </a:r>
          </a:p>
        </p:txBody>
      </p:sp>
      <p:sp>
        <p:nvSpPr>
          <p:cNvPr id="8" name="case-card-body-5-0">
            <a:extLst xmlns:a="http://schemas.openxmlformats.org/drawingml/2006/main">
              <a:ext uri="{FF2B5EF4-FFF2-40B4-BE49-F238E27FC236}">
                <a16:creationId xmlns:a16="http://schemas.microsoft.com/office/drawing/2014/main" id="{1BC58664-4C06-4AA4-98EA-FFF56DB9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971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Overall conformance established from available evidence.</a:t>
            </a:r>
          </a:p>
        </p:txBody>
      </p:sp>
      <p:sp>
        <p:nvSpPr>
          <p:cNvPr id="9" name="case-panel-5-1">
            <a:extLst xmlns:a="http://schemas.openxmlformats.org/drawingml/2006/main">
              <a:ext uri="{FF2B5EF4-FFF2-40B4-BE49-F238E27FC236}">
                <a16:creationId xmlns:a16="http://schemas.microsoft.com/office/drawing/2014/main" id="{ECD6E3F0-4439-4FF1-8DC7-BD26F931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A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10" name="case-card-label-5-1">
            <a:extLst xmlns:a="http://schemas.openxmlformats.org/drawingml/2006/main">
              <a:ext uri="{FF2B5EF4-FFF2-40B4-BE49-F238E27FC236}">
                <a16:creationId xmlns:a16="http://schemas.microsoft.com/office/drawing/2014/main" id="{54431897-114A-4C42-B8E4-BBEB5F62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PRIORITY</a:t>
            </a:r>
          </a:p>
        </p:txBody>
      </p:sp>
      <p:sp>
        <p:nvSpPr>
          <p:cNvPr id="11" name="case-card-title-5-1">
            <a:extLst xmlns:a="http://schemas.openxmlformats.org/drawingml/2006/main">
              <a:ext uri="{FF2B5EF4-FFF2-40B4-BE49-F238E27FC236}">
                <a16:creationId xmlns:a16="http://schemas.microsoft.com/office/drawing/2014/main" id="{3E163E20-6DD5-477C-ABC7-66E3B2EB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2971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Clause 9 at 33%</a:t>
            </a:r>
          </a:p>
        </p:txBody>
      </p:sp>
      <p:sp>
        <p:nvSpPr>
          <p:cNvPr id="12" name="case-card-body-5-1">
            <a:extLst xmlns:a="http://schemas.openxmlformats.org/drawingml/2006/main">
              <a:ext uri="{FF2B5EF4-FFF2-40B4-BE49-F238E27FC236}">
                <a16:creationId xmlns:a16="http://schemas.microsoft.com/office/drawing/2014/main" id="{166010FB-48D9-4561-80EC-7DBF0BE4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2971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Internal audit and management review required focused action.</a:t>
            </a:r>
          </a:p>
        </p:txBody>
      </p:sp>
      <p:sp>
        <p:nvSpPr>
          <p:cNvPr id="13" name="case-panel-5-2">
            <a:extLst xmlns:a="http://schemas.openxmlformats.org/drawingml/2006/main">
              <a:ext uri="{FF2B5EF4-FFF2-40B4-BE49-F238E27FC236}">
                <a16:creationId xmlns:a16="http://schemas.microsoft.com/office/drawing/2014/main" id="{4A766857-79AF-4923-A9DE-E0ED6218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A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14" name="case-card-label-5-2">
            <a:extLst xmlns:a="http://schemas.openxmlformats.org/drawingml/2006/main">
              <a:ext uri="{FF2B5EF4-FFF2-40B4-BE49-F238E27FC236}">
                <a16:creationId xmlns:a16="http://schemas.microsoft.com/office/drawing/2014/main" id="{2BC259C3-7495-4870-A987-3C927D16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OUTPUT</a:t>
            </a:r>
          </a:p>
        </p:txBody>
      </p:sp>
      <p:sp>
        <p:nvSpPr>
          <p:cNvPr id="15" name="case-card-title-5-2">
            <a:extLst xmlns:a="http://schemas.openxmlformats.org/drawingml/2006/main">
              <a:ext uri="{FF2B5EF4-FFF2-40B4-BE49-F238E27FC236}">
                <a16:creationId xmlns:a16="http://schemas.microsoft.com/office/drawing/2014/main" id="{41763CE9-2168-4F58-99E8-50EBE227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52900"/>
            <a:ext cx="2971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Prioritised roadmap</a:t>
            </a:r>
          </a:p>
        </p:txBody>
      </p:sp>
      <p:sp>
        <p:nvSpPr>
          <p:cNvPr id="16" name="case-card-body-5-2">
            <a:extLst xmlns:a="http://schemas.openxmlformats.org/drawingml/2006/main">
              <a:ext uri="{FF2B5EF4-FFF2-40B4-BE49-F238E27FC236}">
                <a16:creationId xmlns:a16="http://schemas.microsoft.com/office/drawing/2014/main" id="{CC358C69-45BF-43DC-AA27-E3F76CEA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971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Documented information, nonconformities, audit planning, and review.</a:t>
            </a:r>
          </a:p>
        </p:txBody>
      </p:sp>
      <p:sp>
        <p:nvSpPr>
          <p:cNvPr id="17" name="footer-5">
            <a:extLst xmlns:a="http://schemas.openxmlformats.org/drawingml/2006/main">
              <a:ext uri="{FF2B5EF4-FFF2-40B4-BE49-F238E27FC236}">
                <a16:creationId xmlns:a16="http://schemas.microsoft.com/office/drawing/2014/main" id="{966C2D4A-4CB3-43DF-AE12-12005274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JAYSON P. SUGPATAN  /  PORTFOLIO</a:t>
            </a:r>
          </a:p>
        </p:txBody>
      </p:sp>
      <p:sp>
        <p:nvSpPr>
          <p:cNvPr id="18" name="page-5">
            <a:extLst xmlns:a="http://schemas.openxmlformats.org/drawingml/2006/main">
              <a:ext uri="{FF2B5EF4-FFF2-40B4-BE49-F238E27FC236}">
                <a16:creationId xmlns:a16="http://schemas.microsoft.com/office/drawing/2014/main" id="{53D8363B-50CA-451A-9F87-3BC3A522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05617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ase-label-6">
            <a:extLst xmlns:a="http://schemas.openxmlformats.org/drawingml/2006/main">
              <a:ext uri="{FF2B5EF4-FFF2-40B4-BE49-F238E27FC236}">
                <a16:creationId xmlns:a16="http://schemas.microsoft.com/office/drawing/2014/main" id="{B7CD4ADE-52C3-4A3F-9A4E-8E4D4CFC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CASE STUDY 03</a:t>
            </a:r>
          </a:p>
        </p:txBody>
      </p:sp>
      <p:sp>
        <p:nvSpPr>
          <p:cNvPr id="2" name="case-title-6">
            <a:extLst xmlns:a="http://schemas.openxmlformats.org/drawingml/2006/main">
              <a:ext uri="{FF2B5EF4-FFF2-40B4-BE49-F238E27FC236}">
                <a16:creationId xmlns:a16="http://schemas.microsoft.com/office/drawing/2014/main" id="{C9E2C474-B168-4D70-8811-8BF5504C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87125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8323C"/>
                </a:solidFill>
                <a:latin typeface="Arial"/>
                <a:ea typeface="Arial"/>
                <a:cs typeface="Arial"/>
              </a:defRPr>
            </a:pPr>
            <a:r>
              <a:t>Physical plant readiness program</a:t>
            </a:r>
          </a:p>
        </p:txBody>
      </p:sp>
      <p:sp>
        <p:nvSpPr>
          <p:cNvPr id="3" name="case-org-6">
            <a:extLst xmlns:a="http://schemas.openxmlformats.org/drawingml/2006/main">
              <a:ext uri="{FF2B5EF4-FFF2-40B4-BE49-F238E27FC236}">
                <a16:creationId xmlns:a16="http://schemas.microsoft.com/office/drawing/2014/main" id="{1608BB68-00D1-46AF-A503-D96D4447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57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Pamantasan ng Cabuyao · 2021–2022</a:t>
            </a:r>
          </a:p>
        </p:txBody>
      </p:sp>
      <p:sp>
        <p:nvSpPr>
          <p:cNvPr id="4" name="case-lead-6">
            <a:extLst xmlns:a="http://schemas.openxmlformats.org/drawingml/2006/main">
              <a:ext uri="{FF2B5EF4-FFF2-40B4-BE49-F238E27FC236}">
                <a16:creationId xmlns:a16="http://schemas.microsoft.com/office/drawing/2014/main" id="{C4EB984C-61FE-47E2-9AED-910F08F4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0858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Coordinated facility evidence and improvements supporting progression from Level 1 toward Level 2 readiness.</a:t>
            </a:r>
          </a:p>
        </p:txBody>
      </p:sp>
      <p:sp>
        <p:nvSpPr>
          <p:cNvPr id="5" name="case-panel-6-0">
            <a:extLst xmlns:a="http://schemas.openxmlformats.org/drawingml/2006/main">
              <a:ext uri="{FF2B5EF4-FFF2-40B4-BE49-F238E27FC236}">
                <a16:creationId xmlns:a16="http://schemas.microsoft.com/office/drawing/2014/main" id="{B219DFA6-D8F7-46B8-A442-570BB113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A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6" name="case-card-label-6-0">
            <a:extLst xmlns:a="http://schemas.openxmlformats.org/drawingml/2006/main">
              <a:ext uri="{FF2B5EF4-FFF2-40B4-BE49-F238E27FC236}">
                <a16:creationId xmlns:a16="http://schemas.microsoft.com/office/drawing/2014/main" id="{8E095E3E-AEF0-4B74-9178-871E1506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SCOPE</a:t>
            </a:r>
          </a:p>
        </p:txBody>
      </p:sp>
      <p:sp>
        <p:nvSpPr>
          <p:cNvPr id="7" name="case-card-title-6-0">
            <a:extLst xmlns:a="http://schemas.openxmlformats.org/drawingml/2006/main">
              <a:ext uri="{FF2B5EF4-FFF2-40B4-BE49-F238E27FC236}">
                <a16:creationId xmlns:a16="http://schemas.microsoft.com/office/drawing/2014/main" id="{946924AF-4990-44D8-A4B0-F30FE7E8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2971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One readiness program</a:t>
            </a:r>
          </a:p>
        </p:txBody>
      </p:sp>
      <p:sp>
        <p:nvSpPr>
          <p:cNvPr id="8" name="case-card-body-6-0">
            <a:extLst xmlns:a="http://schemas.openxmlformats.org/drawingml/2006/main">
              <a:ext uri="{FF2B5EF4-FFF2-40B4-BE49-F238E27FC236}">
                <a16:creationId xmlns:a16="http://schemas.microsoft.com/office/drawing/2014/main" id="{7AD87441-C21A-4114-BB3D-87759B1C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2971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Connected physical conditions, compliance needs, and documentation.</a:t>
            </a:r>
          </a:p>
        </p:txBody>
      </p:sp>
      <p:sp>
        <p:nvSpPr>
          <p:cNvPr id="9" name="case-panel-6-1">
            <a:extLst xmlns:a="http://schemas.openxmlformats.org/drawingml/2006/main">
              <a:ext uri="{FF2B5EF4-FFF2-40B4-BE49-F238E27FC236}">
                <a16:creationId xmlns:a16="http://schemas.microsoft.com/office/drawing/2014/main" id="{3F4BAFD4-64A5-450A-855A-6C71C37B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290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A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10" name="case-card-label-6-1">
            <a:extLst xmlns:a="http://schemas.openxmlformats.org/drawingml/2006/main">
              <a:ext uri="{FF2B5EF4-FFF2-40B4-BE49-F238E27FC236}">
                <a16:creationId xmlns:a16="http://schemas.microsoft.com/office/drawing/2014/main" id="{F52E77FE-A7A1-4C57-9034-C85015AA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METHOD</a:t>
            </a:r>
          </a:p>
        </p:txBody>
      </p:sp>
      <p:sp>
        <p:nvSpPr>
          <p:cNvPr id="11" name="case-card-title-6-1">
            <a:extLst xmlns:a="http://schemas.openxmlformats.org/drawingml/2006/main">
              <a:ext uri="{FF2B5EF4-FFF2-40B4-BE49-F238E27FC236}">
                <a16:creationId xmlns:a16="http://schemas.microsoft.com/office/drawing/2014/main" id="{0D68D5B7-1670-4F6A-B8A4-01BE4D89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2971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Facility evidence</a:t>
            </a:r>
          </a:p>
        </p:txBody>
      </p:sp>
      <p:sp>
        <p:nvSpPr>
          <p:cNvPr id="12" name="case-card-body-6-1">
            <a:extLst xmlns:a="http://schemas.openxmlformats.org/drawingml/2006/main">
              <a:ext uri="{FF2B5EF4-FFF2-40B4-BE49-F238E27FC236}">
                <a16:creationId xmlns:a16="http://schemas.microsoft.com/office/drawing/2014/main" id="{CD6AA10F-B037-4FA2-874D-A3FCA192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2971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Audit · ventilation review · maintenance planning.</a:t>
            </a:r>
          </a:p>
        </p:txBody>
      </p:sp>
      <p:sp>
        <p:nvSpPr>
          <p:cNvPr id="13" name="case-panel-6-2">
            <a:extLst xmlns:a="http://schemas.openxmlformats.org/drawingml/2006/main">
              <a:ext uri="{FF2B5EF4-FFF2-40B4-BE49-F238E27FC236}">
                <a16:creationId xmlns:a16="http://schemas.microsoft.com/office/drawing/2014/main" id="{6A38CB79-0133-47F5-A56B-0C175D96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35814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14" name="case-card-label-6-2">
            <a:extLst xmlns:a="http://schemas.openxmlformats.org/drawingml/2006/main">
              <a:ext uri="{FF2B5EF4-FFF2-40B4-BE49-F238E27FC236}">
                <a16:creationId xmlns:a16="http://schemas.microsoft.com/office/drawing/2014/main" id="{4B1A6A36-760D-45BA-9AC9-465D2B5D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76650"/>
            <a:ext cx="2952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OUTPUT</a:t>
            </a:r>
          </a:p>
        </p:txBody>
      </p:sp>
      <p:sp>
        <p:nvSpPr>
          <p:cNvPr id="15" name="case-card-title-6-2">
            <a:extLst xmlns:a="http://schemas.openxmlformats.org/drawingml/2006/main">
              <a:ext uri="{FF2B5EF4-FFF2-40B4-BE49-F238E27FC236}">
                <a16:creationId xmlns:a16="http://schemas.microsoft.com/office/drawing/2014/main" id="{AFB92B66-C5B2-4CC2-B110-1781B5F1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52900"/>
            <a:ext cx="2971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Integrated actions</a:t>
            </a:r>
          </a:p>
        </p:txBody>
      </p:sp>
      <p:sp>
        <p:nvSpPr>
          <p:cNvPr id="16" name="case-card-body-6-2">
            <a:extLst xmlns:a="http://schemas.openxmlformats.org/drawingml/2006/main">
              <a:ext uri="{FF2B5EF4-FFF2-40B4-BE49-F238E27FC236}">
                <a16:creationId xmlns:a16="http://schemas.microsoft.com/office/drawing/2014/main" id="{FBA4B182-ADBB-47F3-BB6C-872C9B4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971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Signage, accessibility, ventilation, and predictive-maintenance priorities.</a:t>
            </a:r>
          </a:p>
        </p:txBody>
      </p:sp>
      <p:sp>
        <p:nvSpPr>
          <p:cNvPr id="17" name="footer-6">
            <a:extLst xmlns:a="http://schemas.openxmlformats.org/drawingml/2006/main">
              <a:ext uri="{FF2B5EF4-FFF2-40B4-BE49-F238E27FC236}">
                <a16:creationId xmlns:a16="http://schemas.microsoft.com/office/drawing/2014/main" id="{9C4D3E69-578D-4762-8E90-2DDA6EBB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JAYSON P. SUGPATAN  /  PORTFOLIO</a:t>
            </a:r>
          </a:p>
        </p:txBody>
      </p:sp>
      <p:sp>
        <p:nvSpPr>
          <p:cNvPr id="18" name="page-6">
            <a:extLst xmlns:a="http://schemas.openxmlformats.org/drawingml/2006/main">
              <a:ext uri="{FF2B5EF4-FFF2-40B4-BE49-F238E27FC236}">
                <a16:creationId xmlns:a16="http://schemas.microsoft.com/office/drawing/2014/main" id="{8F2F6F44-2BD8-4181-9786-D41EE5CF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8043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digital-title">
            <a:extLst xmlns:a="http://schemas.openxmlformats.org/drawingml/2006/main">
              <a:ext uri="{FF2B5EF4-FFF2-40B4-BE49-F238E27FC236}">
                <a16:creationId xmlns:a16="http://schemas.microsoft.com/office/drawing/2014/main" id="{C9CA52DC-1445-49F9-B922-48C02DEE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8712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Digital projects show analytical judgment
and workflow architecture</a:t>
            </a:r>
          </a:p>
        </p:txBody>
      </p:sp>
      <p:sp>
        <p:nvSpPr>
          <p:cNvPr id="2" name="digital-lead">
            <a:extLst xmlns:a="http://schemas.openxmlformats.org/drawingml/2006/main">
              <a:ext uri="{FF2B5EF4-FFF2-40B4-BE49-F238E27FC236}">
                <a16:creationId xmlns:a16="http://schemas.microsoft.com/office/drawing/2014/main" id="{CC4D3C64-400C-4AB8-841E-0D93F3EE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076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These are labelled separately from completed employer projects so the evidence stays honest.</a:t>
            </a:r>
          </a:p>
        </p:txBody>
      </p:sp>
      <p:sp>
        <p:nvSpPr>
          <p:cNvPr id="3" name="digital-left-panel">
            <a:extLst xmlns:a="http://schemas.openxmlformats.org/drawingml/2006/main">
              <a:ext uri="{FF2B5EF4-FFF2-40B4-BE49-F238E27FC236}">
                <a16:creationId xmlns:a16="http://schemas.microsoft.com/office/drawing/2014/main" id="{E119D155-F44E-47C0-92C4-5053CCDE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5524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4" name="digital-right-panel">
            <a:extLst xmlns:a="http://schemas.openxmlformats.org/drawingml/2006/main">
              <a:ext uri="{FF2B5EF4-FFF2-40B4-BE49-F238E27FC236}">
                <a16:creationId xmlns:a16="http://schemas.microsoft.com/office/drawing/2014/main" id="{050E8163-798D-4BE6-9518-5CB5F972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5524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23C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5" name="digital-left-label">
            <a:extLst xmlns:a="http://schemas.openxmlformats.org/drawingml/2006/main">
              <a:ext uri="{FF2B5EF4-FFF2-40B4-BE49-F238E27FC236}">
                <a16:creationId xmlns:a16="http://schemas.microsoft.com/office/drawing/2014/main" id="{F57FFB0C-39A8-4FC2-BCC7-A041717A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PORTFOLIO STUDY</a:t>
            </a:r>
          </a:p>
        </p:txBody>
      </p:sp>
      <p:sp>
        <p:nvSpPr>
          <p:cNvPr id="6" name="digital-left-title">
            <a:extLst xmlns:a="http://schemas.openxmlformats.org/drawingml/2006/main">
              <a:ext uri="{FF2B5EF4-FFF2-40B4-BE49-F238E27FC236}">
                <a16:creationId xmlns:a16="http://schemas.microsoft.com/office/drawing/2014/main" id="{F45D71EB-57D3-4EE8-BC72-F9220D68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Customer engagement analysis</a:t>
            </a:r>
          </a:p>
        </p:txBody>
      </p:sp>
      <p:sp>
        <p:nvSpPr>
          <p:cNvPr id="7" name="digital-right-label">
            <a:extLst xmlns:a="http://schemas.openxmlformats.org/drawingml/2006/main">
              <a:ext uri="{FF2B5EF4-FFF2-40B4-BE49-F238E27FC236}">
                <a16:creationId xmlns:a16="http://schemas.microsoft.com/office/drawing/2014/main" id="{24F0C87F-563E-4C1C-9EDA-B70F5BF4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52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DF7"/>
                </a:solidFill>
                <a:latin typeface="Arial"/>
                <a:ea typeface="Arial"/>
                <a:cs typeface="Arial"/>
              </a:defRPr>
            </a:pPr>
            <a:r>
              <a:t>SYSTEM DESIGN</a:t>
            </a:r>
          </a:p>
        </p:txBody>
      </p:sp>
      <p:sp>
        <p:nvSpPr>
          <p:cNvPr id="8" name="digital-right-title">
            <a:extLst xmlns:a="http://schemas.openxmlformats.org/drawingml/2006/main">
              <a:ext uri="{FF2B5EF4-FFF2-40B4-BE49-F238E27FC236}">
                <a16:creationId xmlns:a16="http://schemas.microsoft.com/office/drawing/2014/main" id="{2B38CCFF-E09F-4539-ABB1-580551E8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DF7"/>
                </a:solidFill>
                <a:latin typeface="Arial"/>
                <a:ea typeface="Arial"/>
                <a:cs typeface="Arial"/>
              </a:defRPr>
            </a:pPr>
            <a:r>
              <a:t>90-day lead-generation workflow</a:t>
            </a:r>
          </a:p>
        </p:txBody>
      </p:sp>
      <p:sp>
        <p:nvSpPr>
          <p:cNvPr id="9" name="digital-left-body">
            <a:extLst xmlns:a="http://schemas.openxmlformats.org/drawingml/2006/main">
              <a:ext uri="{FF2B5EF4-FFF2-40B4-BE49-F238E27FC236}">
                <a16:creationId xmlns:a16="http://schemas.microsoft.com/office/drawing/2014/main" id="{770C0BE4-789E-43D1-96C9-D9E28E8A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4953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Compared free- and paid-plan engagement using central tendency, distribution shape, skewness, and kurtosis.</a:t>
            </a:r>
          </a:p>
        </p:txBody>
      </p:sp>
      <p:sp>
        <p:nvSpPr>
          <p:cNvPr id="10" name="digital-right-body">
            <a:extLst xmlns:a="http://schemas.openxmlformats.org/drawingml/2006/main">
              <a:ext uri="{FF2B5EF4-FFF2-40B4-BE49-F238E27FC236}">
                <a16:creationId xmlns:a16="http://schemas.microsoft.com/office/drawing/2014/main" id="{3817F27B-2147-4174-BD96-6C704540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86300"/>
            <a:ext cx="4953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Structured milestones, dependencies, ownership, forms, rules, custom fields, and next-action controls.</a:t>
            </a:r>
          </a:p>
        </p:txBody>
      </p:sp>
      <p:sp>
        <p:nvSpPr>
          <p:cNvPr id="11" name="digital-left-method">
            <a:extLst xmlns:a="http://schemas.openxmlformats.org/drawingml/2006/main">
              <a:ext uri="{FF2B5EF4-FFF2-40B4-BE49-F238E27FC236}">
                <a16:creationId xmlns:a16="http://schemas.microsoft.com/office/drawing/2014/main" id="{5661302E-1C79-42AC-B477-75FB5AEB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Methods: segmentation · descriptive statistics · business interpretation</a:t>
            </a:r>
          </a:p>
        </p:txBody>
      </p:sp>
      <p:sp>
        <p:nvSpPr>
          <p:cNvPr id="12" name="digital-right-method">
            <a:extLst xmlns:a="http://schemas.openxmlformats.org/drawingml/2006/main">
              <a:ext uri="{FF2B5EF4-FFF2-40B4-BE49-F238E27FC236}">
                <a16:creationId xmlns:a16="http://schemas.microsoft.com/office/drawing/2014/main" id="{16DABC59-C13A-4E43-BF4A-47D34D77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61975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Methods: Asana · automation rules · CRM logic · reporting fields</a:t>
            </a:r>
          </a:p>
        </p:txBody>
      </p:sp>
      <p:sp>
        <p:nvSpPr>
          <p:cNvPr id="13" name="footer-7">
            <a:extLst xmlns:a="http://schemas.openxmlformats.org/drawingml/2006/main">
              <a:ext uri="{FF2B5EF4-FFF2-40B4-BE49-F238E27FC236}">
                <a16:creationId xmlns:a16="http://schemas.microsoft.com/office/drawing/2014/main" id="{D5285C5F-CCB0-4008-ADC1-2A456994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JAYSON P. SUGPATAN  /  PORTFOLIO</a:t>
            </a:r>
          </a:p>
        </p:txBody>
      </p:sp>
      <p:sp>
        <p:nvSpPr>
          <p:cNvPr id="14" name="page-7">
            <a:extLst xmlns:a="http://schemas.openxmlformats.org/drawingml/2006/main">
              <a:ext uri="{FF2B5EF4-FFF2-40B4-BE49-F238E27FC236}">
                <a16:creationId xmlns:a16="http://schemas.microsoft.com/office/drawing/2014/main" id="{6FD0EC35-72A3-469B-AF4A-81B4EF9C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401797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abrication-title">
            <a:extLst xmlns:a="http://schemas.openxmlformats.org/drawingml/2006/main">
              <a:ext uri="{FF2B5EF4-FFF2-40B4-BE49-F238E27FC236}">
                <a16:creationId xmlns:a16="http://schemas.microsoft.com/office/drawing/2014/main" id="{1C938461-1044-4B34-B109-670D49A1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Fabrication experience keeps the engineering
grounded</a:t>
            </a:r>
          </a:p>
        </p:txBody>
      </p:sp>
      <p:sp>
        <p:nvSpPr>
          <p:cNvPr id="2" name="fabrication-lead">
            <a:extLst xmlns:a="http://schemas.openxmlformats.org/drawingml/2006/main">
              <a:ext uri="{FF2B5EF4-FFF2-40B4-BE49-F238E27FC236}">
                <a16:creationId xmlns:a16="http://schemas.microsoft.com/office/drawing/2014/main" id="{1C680881-9566-4B8D-BE79-EFE5296D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047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Field experience changes how I write procedures, assess constraints, and communicate with operators.</a:t>
            </a:r>
          </a:p>
        </p:txBody>
      </p:sp>
      <p:sp>
        <p:nvSpPr>
          <p:cNvPr id="3" name="fabrication-left-panel">
            <a:extLst xmlns:a="http://schemas.openxmlformats.org/drawingml/2006/main">
              <a:ext uri="{FF2B5EF4-FFF2-40B4-BE49-F238E27FC236}">
                <a16:creationId xmlns:a16="http://schemas.microsoft.com/office/drawing/2014/main" id="{3E22E500-5329-4BAA-BD17-E60EE6D4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5524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A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4" name="fabrication-right-panel">
            <a:extLst xmlns:a="http://schemas.openxmlformats.org/drawingml/2006/main">
              <a:ext uri="{FF2B5EF4-FFF2-40B4-BE49-F238E27FC236}">
                <a16:creationId xmlns:a16="http://schemas.microsoft.com/office/drawing/2014/main" id="{E04E5714-B049-46EC-9CB2-D073BD38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5524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5" name="fabrication-left-label">
            <a:extLst xmlns:a="http://schemas.openxmlformats.org/drawingml/2006/main">
              <a:ext uri="{FF2B5EF4-FFF2-40B4-BE49-F238E27FC236}">
                <a16:creationId xmlns:a16="http://schemas.microsoft.com/office/drawing/2014/main" id="{2E910623-26CC-4DAE-A079-D0DCDA83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HANDS-ON CONTEXT</a:t>
            </a:r>
          </a:p>
        </p:txBody>
      </p:sp>
      <p:sp>
        <p:nvSpPr>
          <p:cNvPr id="6" name="fabrication-left-title">
            <a:extLst xmlns:a="http://schemas.openxmlformats.org/drawingml/2006/main">
              <a:ext uri="{FF2B5EF4-FFF2-40B4-BE49-F238E27FC236}">
                <a16:creationId xmlns:a16="http://schemas.microsoft.com/office/drawing/2014/main" id="{DB0983BE-F147-4BFC-90A2-67FBB6A0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23C"/>
                </a:solidFill>
                <a:latin typeface="Arial"/>
                <a:ea typeface="Arial"/>
                <a:cs typeface="Arial"/>
              </a:defRPr>
            </a:pPr>
            <a:r>
              <a:t>What I have done</a:t>
            </a:r>
          </a:p>
        </p:txBody>
      </p:sp>
      <p:sp>
        <p:nvSpPr>
          <p:cNvPr id="7" name="fabrication-right-label">
            <a:extLst xmlns:a="http://schemas.openxmlformats.org/drawingml/2006/main">
              <a:ext uri="{FF2B5EF4-FFF2-40B4-BE49-F238E27FC236}">
                <a16:creationId xmlns:a16="http://schemas.microsoft.com/office/drawing/2014/main" id="{8554C906-1787-496B-975F-37837B61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527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ENGINEERING VALUE</a:t>
            </a:r>
          </a:p>
        </p:txBody>
      </p:sp>
      <p:sp>
        <p:nvSpPr>
          <p:cNvPr id="8" name="fabrication-right-title">
            <a:extLst xmlns:a="http://schemas.openxmlformats.org/drawingml/2006/main">
              <a:ext uri="{FF2B5EF4-FFF2-40B4-BE49-F238E27FC236}">
                <a16:creationId xmlns:a16="http://schemas.microsoft.com/office/drawing/2014/main" id="{B9E4865C-F4BA-4C08-AD49-444032F0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What it adds</a:t>
            </a:r>
          </a:p>
        </p:txBody>
      </p:sp>
      <p:sp>
        <p:nvSpPr>
          <p:cNvPr id="9" name="fabrication-left-body">
            <a:extLst xmlns:a="http://schemas.openxmlformats.org/drawingml/2006/main">
              <a:ext uri="{FF2B5EF4-FFF2-40B4-BE49-F238E27FC236}">
                <a16:creationId xmlns:a16="http://schemas.microsoft.com/office/drawing/2014/main" id="{482118EF-8EBD-4144-BDAB-156FE508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4953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MIG fabrication · rebar cage production · Pedax Permatic · drawings · material handling · forklift · crane · inventory</a:t>
            </a:r>
          </a:p>
        </p:txBody>
      </p:sp>
      <p:sp>
        <p:nvSpPr>
          <p:cNvPr id="10" name="fabrication-right-body">
            <a:extLst xmlns:a="http://schemas.openxmlformats.org/drawingml/2006/main">
              <a:ext uri="{FF2B5EF4-FFF2-40B4-BE49-F238E27FC236}">
                <a16:creationId xmlns:a16="http://schemas.microsoft.com/office/drawing/2014/main" id="{55EF94A2-563E-4FA1-9F84-8D29315A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24400"/>
            <a:ext cx="4953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More realistic documentation · clearer risk awareness · stronger operator communication · practical improvement choices</a:t>
            </a:r>
          </a:p>
        </p:txBody>
      </p:sp>
      <p:sp>
        <p:nvSpPr>
          <p:cNvPr id="11" name="footer-8">
            <a:extLst xmlns:a="http://schemas.openxmlformats.org/drawingml/2006/main">
              <a:ext uri="{FF2B5EF4-FFF2-40B4-BE49-F238E27FC236}">
                <a16:creationId xmlns:a16="http://schemas.microsoft.com/office/drawing/2014/main" id="{BB4DE755-A9F4-419C-A19E-18B1E5F2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JAYSON P. SUGPATAN  /  PORTFOLIO</a:t>
            </a:r>
          </a:p>
        </p:txBody>
      </p:sp>
      <p:sp>
        <p:nvSpPr>
          <p:cNvPr id="12" name="page-8">
            <a:extLst xmlns:a="http://schemas.openxmlformats.org/drawingml/2006/main">
              <a:ext uri="{FF2B5EF4-FFF2-40B4-BE49-F238E27FC236}">
                <a16:creationId xmlns:a16="http://schemas.microsoft.com/office/drawing/2014/main" id="{798DABC0-901D-4D5A-A6CE-DB9DF260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323592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redentials-title">
            <a:extLst xmlns:a="http://schemas.openxmlformats.org/drawingml/2006/main">
              <a:ext uri="{FF2B5EF4-FFF2-40B4-BE49-F238E27FC236}">
                <a16:creationId xmlns:a16="http://schemas.microsoft.com/office/drawing/2014/main" id="{56AF31F1-886D-403A-884F-64D911C3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239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Ready for roles where systems meet execution</a:t>
            </a:r>
          </a:p>
        </p:txBody>
      </p:sp>
      <p:sp>
        <p:nvSpPr>
          <p:cNvPr id="2" name="credentials-lead">
            <a:extLst xmlns:a="http://schemas.openxmlformats.org/drawingml/2006/main">
              <a:ext uri="{FF2B5EF4-FFF2-40B4-BE49-F238E27FC236}">
                <a16:creationId xmlns:a16="http://schemas.microsoft.com/office/drawing/2014/main" id="{B43010A4-C58E-4E9B-AD7F-263B6258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10668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Best fit: practical documentation, analytical discipline, operational understanding, and cross-functional coordination.</a:t>
            </a:r>
          </a:p>
        </p:txBody>
      </p:sp>
      <p:sp>
        <p:nvSpPr>
          <p:cNvPr id="3" name="credentials-panel-0">
            <a:extLst xmlns:a="http://schemas.openxmlformats.org/drawingml/2006/main">
              <a:ext uri="{FF2B5EF4-FFF2-40B4-BE49-F238E27FC236}">
                <a16:creationId xmlns:a16="http://schemas.microsoft.com/office/drawing/2014/main" id="{633E7E50-A190-4ABD-BDD4-9DA89896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5814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A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4" name="credentials-label-0">
            <a:extLst xmlns:a="http://schemas.openxmlformats.org/drawingml/2006/main">
              <a:ext uri="{FF2B5EF4-FFF2-40B4-BE49-F238E27FC236}">
                <a16:creationId xmlns:a16="http://schemas.microsoft.com/office/drawing/2014/main" id="{572113BC-7EBC-4DAF-ADC5-01E2D94D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97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EDUCATION</a:t>
            </a:r>
          </a:p>
        </p:txBody>
      </p:sp>
      <p:sp>
        <p:nvSpPr>
          <p:cNvPr id="5" name="credentials-title-0">
            <a:extLst xmlns:a="http://schemas.openxmlformats.org/drawingml/2006/main">
              <a:ext uri="{FF2B5EF4-FFF2-40B4-BE49-F238E27FC236}">
                <a16:creationId xmlns:a16="http://schemas.microsoft.com/office/drawing/2014/main" id="{EA9B54D0-CEC0-42D6-B9E7-DAD10E59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952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23C"/>
                </a:solidFill>
                <a:latin typeface="Arial"/>
                <a:ea typeface="Arial"/>
                <a:cs typeface="Arial"/>
              </a:defRPr>
            </a:pPr>
            <a:r>
              <a:t>BS Industrial Engineering</a:t>
            </a:r>
          </a:p>
        </p:txBody>
      </p:sp>
      <p:sp>
        <p:nvSpPr>
          <p:cNvPr id="6" name="credentials-body-0">
            <a:extLst xmlns:a="http://schemas.openxmlformats.org/drawingml/2006/main">
              <a:ext uri="{FF2B5EF4-FFF2-40B4-BE49-F238E27FC236}">
                <a16:creationId xmlns:a16="http://schemas.microsoft.com/office/drawing/2014/main" id="{3DBFBF48-3A05-47EB-BA50-589A93E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MS Industrial Engineering thesis in progress.</a:t>
            </a:r>
          </a:p>
        </p:txBody>
      </p:sp>
      <p:sp>
        <p:nvSpPr>
          <p:cNvPr id="7" name="credentials-panel-1">
            <a:extLst xmlns:a="http://schemas.openxmlformats.org/drawingml/2006/main">
              <a:ext uri="{FF2B5EF4-FFF2-40B4-BE49-F238E27FC236}">
                <a16:creationId xmlns:a16="http://schemas.microsoft.com/office/drawing/2014/main" id="{29E1C06A-C2B1-42F0-A61D-0C14E95F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5814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A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8" name="credentials-label-1">
            <a:extLst xmlns:a="http://schemas.openxmlformats.org/drawingml/2006/main">
              <a:ext uri="{FF2B5EF4-FFF2-40B4-BE49-F238E27FC236}">
                <a16:creationId xmlns:a16="http://schemas.microsoft.com/office/drawing/2014/main" id="{B6689D8F-CC61-4FC3-A0FF-0EC87B3D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297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TRAINING</a:t>
            </a:r>
          </a:p>
        </p:txBody>
      </p:sp>
      <p:sp>
        <p:nvSpPr>
          <p:cNvPr id="9" name="credentials-title-1">
            <a:extLst xmlns:a="http://schemas.openxmlformats.org/drawingml/2006/main">
              <a:ext uri="{FF2B5EF4-FFF2-40B4-BE49-F238E27FC236}">
                <a16:creationId xmlns:a16="http://schemas.microsoft.com/office/drawing/2014/main" id="{188BDE14-7A7A-4F49-AA8D-757A53C2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2952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23C"/>
                </a:solidFill>
                <a:latin typeface="Arial"/>
                <a:ea typeface="Arial"/>
                <a:cs typeface="Arial"/>
              </a:defRPr>
            </a:pPr>
            <a:r>
              <a:t>Fabrication + improvement</a:t>
            </a:r>
          </a:p>
        </p:txBody>
      </p:sp>
      <p:sp>
        <p:nvSpPr>
          <p:cNvPr id="10" name="credentials-body-1">
            <a:extLst xmlns:a="http://schemas.openxmlformats.org/drawingml/2006/main">
              <a:ext uri="{FF2B5EF4-FFF2-40B4-BE49-F238E27FC236}">
                <a16:creationId xmlns:a16="http://schemas.microsoft.com/office/drawing/2014/main" id="{8D6F9BE5-1CA8-4242-9797-686AD82A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05375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Certificate IV MEM40119 · Lean Six Sigma Yellow Belt · ISO 9001 experience.</a:t>
            </a:r>
          </a:p>
        </p:txBody>
      </p:sp>
      <p:sp>
        <p:nvSpPr>
          <p:cNvPr id="11" name="credentials-panel-2">
            <a:extLst xmlns:a="http://schemas.openxmlformats.org/drawingml/2006/main">
              <a:ext uri="{FF2B5EF4-FFF2-40B4-BE49-F238E27FC236}">
                <a16:creationId xmlns:a16="http://schemas.microsoft.com/office/drawing/2014/main" id="{ACC40F9F-E040-4598-9D5A-B109FB69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5814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9525">
            <a:solidFill>
              <a:srgbClr val="111512"/>
            </a:solidFill>
            <a:prstDash val="solid"/>
          </a:ln>
        </p:spPr>
      </p:sp>
      <p:sp>
        <p:nvSpPr>
          <p:cNvPr id="12" name="credentials-label-2">
            <a:extLst xmlns:a="http://schemas.openxmlformats.org/drawingml/2006/main">
              <a:ext uri="{FF2B5EF4-FFF2-40B4-BE49-F238E27FC236}">
                <a16:creationId xmlns:a16="http://schemas.microsoft.com/office/drawing/2014/main" id="{46ADCB60-0904-40A1-8CEE-8D8A5BAD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2971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OPPORTUNITY FIT</a:t>
            </a:r>
          </a:p>
        </p:txBody>
      </p:sp>
      <p:sp>
        <p:nvSpPr>
          <p:cNvPr id="13" name="credentials-title-2">
            <a:extLst xmlns:a="http://schemas.openxmlformats.org/drawingml/2006/main">
              <a:ext uri="{FF2B5EF4-FFF2-40B4-BE49-F238E27FC236}">
                <a16:creationId xmlns:a16="http://schemas.microsoft.com/office/drawing/2014/main" id="{29BCA902-B7B7-407A-B531-56AC821A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952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23C"/>
                </a:solidFill>
                <a:latin typeface="Arial"/>
                <a:ea typeface="Arial"/>
                <a:cs typeface="Arial"/>
              </a:defRPr>
            </a:pPr>
            <a:r>
              <a:t>Operations + data + workflow</a:t>
            </a:r>
          </a:p>
        </p:txBody>
      </p:sp>
      <p:sp>
        <p:nvSpPr>
          <p:cNvPr id="14" name="credentials-body-2">
            <a:extLst xmlns:a="http://schemas.openxmlformats.org/drawingml/2006/main">
              <a:ext uri="{FF2B5EF4-FFF2-40B4-BE49-F238E27FC236}">
                <a16:creationId xmlns:a16="http://schemas.microsoft.com/office/drawing/2014/main" id="{9CA0A485-8E70-45A5-B4ED-9EE412CA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05375"/>
            <a:ext cx="29527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Process support · reporting · documentation · project and workflow coordination.</a:t>
            </a:r>
          </a:p>
        </p:txBody>
      </p:sp>
      <p:sp>
        <p:nvSpPr>
          <p:cNvPr id="15" name="footer-9">
            <a:extLst xmlns:a="http://schemas.openxmlformats.org/drawingml/2006/main">
              <a:ext uri="{FF2B5EF4-FFF2-40B4-BE49-F238E27FC236}">
                <a16:creationId xmlns:a16="http://schemas.microsoft.com/office/drawing/2014/main" id="{2C337DE8-8DD7-4BA7-B83D-582BBA08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JAYSON P. SUGPATAN  /  PORTFOLIO</a:t>
            </a:r>
          </a:p>
        </p:txBody>
      </p:sp>
      <p:sp>
        <p:nvSpPr>
          <p:cNvPr id="16" name="page-9">
            <a:extLst xmlns:a="http://schemas.openxmlformats.org/drawingml/2006/main">
              <a:ext uri="{FF2B5EF4-FFF2-40B4-BE49-F238E27FC236}">
                <a16:creationId xmlns:a16="http://schemas.microsoft.com/office/drawing/2014/main" id="{6BE6421B-43BE-41FE-91B8-A6ED3065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533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16739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label-left">
            <a:extLst xmlns:a="http://schemas.openxmlformats.org/drawingml/2006/main">
              <a:ext uri="{FF2B5EF4-FFF2-40B4-BE49-F238E27FC236}">
                <a16:creationId xmlns:a16="http://schemas.microsoft.com/office/drawing/2014/main" id="{DF7F6416-008B-477E-9554-CADFC8B5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JAYSON P. SUGPATAN</a:t>
            </a:r>
          </a:p>
        </p:txBody>
      </p:sp>
      <p:sp>
        <p:nvSpPr>
          <p:cNvPr id="2" name="close-label-right">
            <a:extLst xmlns:a="http://schemas.openxmlformats.org/drawingml/2006/main">
              <a:ext uri="{FF2B5EF4-FFF2-40B4-BE49-F238E27FC236}">
                <a16:creationId xmlns:a16="http://schemas.microsoft.com/office/drawing/2014/main" id="{39C5DBEA-9D89-4E22-B9C7-CF7B6ADA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"/>
            <a:ext cx="4362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D635E"/>
                </a:solidFill>
                <a:latin typeface="Arial"/>
                <a:ea typeface="Arial"/>
                <a:cs typeface="Arial"/>
              </a:defRPr>
            </a:pPr>
            <a:r>
              <a:t>PHILIPPINES · AUSTRALIA EXPERIENCE</a:t>
            </a:r>
          </a:p>
        </p:txBody>
      </p:sp>
      <p:sp>
        <p:nvSpPr>
          <p:cNvPr id="3" name="close-signal">
            <a:extLst xmlns:a="http://schemas.openxmlformats.org/drawingml/2006/main">
              <a:ext uri="{FF2B5EF4-FFF2-40B4-BE49-F238E27FC236}">
                <a16:creationId xmlns:a16="http://schemas.microsoft.com/office/drawing/2014/main" id="{505256B2-8463-4A45-AD33-0627137B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4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CF93F06-24F2-4A05-B492-EA6C72E9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971550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512"/>
                </a:solidFill>
                <a:latin typeface="Arial"/>
                <a:ea typeface="Arial"/>
                <a:cs typeface="Arial"/>
              </a:defRPr>
            </a:pPr>
            <a:r>
              <a:t>Where systems
meet execution.</a:t>
            </a:r>
          </a:p>
        </p:txBody>
      </p:sp>
      <p:sp>
        <p:nvSpPr>
          <p:cNvPr id="5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139D8E08-041D-483C-9DE6-093ECA64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323C"/>
                </a:solidFill>
                <a:latin typeface="Arial"/>
                <a:ea typeface="Arial"/>
                <a:cs typeface="Arial"/>
              </a:defRPr>
            </a:pPr>
            <a:r>
              <a:t>Open to industrial operations, data and reporting, workflow coordination, and documentation-focused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251505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2026-08-31T05:29:45.4990000Z</dcterms:created>
  <dcterms:modified xsi:type="dcterms:W3CDTF">2026-08-31T05:29:45.4990000Z</dcterms:modified>
</coreProperties>
</file>