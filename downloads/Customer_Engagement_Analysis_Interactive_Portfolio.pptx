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8FAFC"/>
                </a:solidFill>
                <a:latin typeface="Aptos Display"/>
              </a:defRPr>
            </a:pPr>
            <a:r>
              <a:rPr sz="1300" b="0" i="0" u="none" strike="noStrike">
                <a:solidFill>
                  <a:srgbClr val="F8FAFC"/>
                </a:solidFill>
                <a:latin typeface="Aptos Display"/>
              </a:rPr>
              <a:t>Skewness by cohort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Skewness</c:v>
                </c:pt>
              </c:strCache>
            </c:strRef>
          </c:tx>
          <c:spPr>
            <a:solidFill>
              <a:srgbClr val="19D6C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Paid 2021</c:v>
                  </c:pt>
                  <c:pt idx="1">
                    <c:v>Paid 2022</c:v>
                  </c:pt>
                  <c:pt idx="2">
                    <c:v>Free 2021</c:v>
                  </c:pt>
                  <c:pt idx="3">
                    <c:v>Free 2022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0.63</c:v>
                </c:pt>
                <c:pt idx="1">
                  <c:v>7.07</c:v>
                </c:pt>
                <c:pt idx="2">
                  <c:v>1.17</c:v>
                </c:pt>
                <c:pt idx="3">
                  <c:v>15.06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4.xml"/><Relationship Id="rId3" Type="http://schemas.openxmlformats.org/officeDocument/2006/relationships/slide" Target="slide5.xml"/><Relationship Id="rId4" Type="http://schemas.openxmlformats.org/officeDocument/2006/relationships/slide" Target="slide6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5.xml"/><Relationship Id="rId3" Type="http://schemas.openxmlformats.org/officeDocument/2006/relationships/slide" Target="slide7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chart" Target="/ppt/charts/chart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3" Type="http://schemas.openxmlformats.org/officeDocument/2006/relationships/slide" Target="slide6.xml"/><Relationship Id="rId2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3" Type="http://schemas.openxmlformats.org/officeDocument/2006/relationships/slide" Target="slide8.xml"/><Relationship Id="rId1" Type="http://schemas.openxmlformats.org/officeDocument/2006/relationships/image" Target="../media/image-7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" Target="slide1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professional_modern_office_desk_scene_wit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217920" cy="6858000"/>
          </a:xfrm>
          <a:prstGeom prst="rect">
            <a:avLst/>
          </a:prstGeom>
          <a:solidFill>
            <a:srgbClr val="071A2C">
              <a:alpha val="97000"/>
            </a:srgbClr>
          </a:solidFill>
          <a:ln w="12700">
            <a:solidFill>
              <a:srgbClr val="071A2C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09728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Engagement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Analysis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13232" y="32461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2FE"/>
                </a:solidFill>
              </a:rPr>
              <a:t>Excel portfolio project: confidence intervals, hypothesis testing, and business recommendations.</a:t>
            </a:r>
            <a:endParaRPr lang="en-US" sz="1500" dirty="0"/>
          </a:p>
        </p:txBody>
      </p:sp>
      <p:sp>
        <p:nvSpPr>
          <p:cNvPr id="6" name="Text 3">
            <a:hlinkClick r:id="rId2" tooltip="Go to slide 2" action="ppaction://hlinksldjump"/>
          </p:cNvPr>
          <p:cNvSpPr/>
          <p:nvPr/>
        </p:nvSpPr>
        <p:spPr>
          <a:xfrm>
            <a:off x="713232" y="4160520"/>
            <a:ext cx="2148840" cy="347472"/>
          </a:xfrm>
          <a:prstGeom prst="rect">
            <a:avLst/>
          </a:prstGeom>
          <a:solidFill>
            <a:srgbClr val="19D6C9"/>
          </a:solidFill>
          <a:ln>
            <a:solidFill>
              <a:srgbClr val="19D6C9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u="sng" dirty="0">
                <a:solidFill>
                  <a:srgbClr val="071A2C"/>
                </a:solidFill>
                <a:hlinkClick r:id="rId2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 interactive story →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31520" y="627278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B5C8"/>
                </a:solidFill>
              </a:rPr>
              <a:t>Prepared by Jayson Sugpatan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Interactive Portfolio Map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B5C8"/>
                </a:solidFill>
              </a:rPr>
              <a:t>Choose a section to review the business question, statistical evidence, and decision story.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77240" y="1508760"/>
            <a:ext cx="3246120" cy="1417320"/>
          </a:xfrm>
          <a:prstGeom prst="rect">
            <a:avLst/>
          </a:prstGeom>
          <a:solidFill>
            <a:srgbClr val="0F2E49"/>
          </a:solidFill>
          <a:ln>
            <a:solidFill>
              <a:srgbClr val="19D6C9">
                <a:alpha val="80000"/>
              </a:srgbClr>
            </a:solidFill>
          </a:ln>
          <a:effectLst>
            <a:outerShdw sx="100000" sy="100000" kx="0" ky="0" algn="bl" rotWithShape="0" blurRad="25400" dist="12700" dir="2700000">
              <a:srgbClr val="000000">
                <a:alpha val="25000"/>
              </a:srgbClr>
            </a:outerShdw>
          </a:effectLst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9D6C9"/>
                </a:solidFill>
              </a:rPr>
              <a:t>01
</a:t>
            </a:r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</a:rPr>
              <a:t>Business Problem
</a:t>
            </a:r>
            <a:pPr indent="0" marL="0">
              <a:buNone/>
            </a:pPr>
            <a:r>
              <a:rPr lang="en-US" sz="950" dirty="0">
                <a:solidFill>
                  <a:srgbClr val="A7B5C8"/>
                </a:solidFill>
              </a:rPr>
              <a:t>What decision does the analysis support?</a:t>
            </a:r>
            <a:endParaRPr lang="en-US" sz="1300" dirty="0"/>
          </a:p>
        </p:txBody>
      </p:sp>
      <p:sp>
        <p:nvSpPr>
          <p:cNvPr id="5" name="Shape 3">
            <a:hlinkClick r:id="rId1" tooltip="Open Business Problem" action="ppaction://hlinksldjump"/>
          </p:cNvPr>
          <p:cNvSpPr/>
          <p:nvPr/>
        </p:nvSpPr>
        <p:spPr>
          <a:xfrm>
            <a:off x="777240" y="1508760"/>
            <a:ext cx="3246120" cy="1417320"/>
          </a:xfrm>
          <a:prstGeom prst="rect">
            <a:avLst/>
          </a:prstGeom>
          <a:solidFill>
            <a:srgbClr val="F8FAFC">
              <a:alpha val="0"/>
            </a:srgbClr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80560" y="1508760"/>
            <a:ext cx="3246120" cy="1417320"/>
          </a:xfrm>
          <a:prstGeom prst="rect">
            <a:avLst/>
          </a:prstGeom>
          <a:solidFill>
            <a:srgbClr val="0F2E49"/>
          </a:solidFill>
          <a:ln>
            <a:solidFill>
              <a:srgbClr val="60A5FA">
                <a:alpha val="80000"/>
              </a:srgbClr>
            </a:solidFill>
          </a:ln>
          <a:effectLst>
            <a:outerShdw sx="100000" sy="100000" kx="0" ky="0" algn="bl" rotWithShape="0" blurRad="25400" dist="12700" dir="2700000">
              <a:srgbClr val="000000">
                <a:alpha val="25000"/>
              </a:srgbClr>
            </a:outerShdw>
          </a:effectLst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</a:rPr>
              <a:t>02
</a:t>
            </a:r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</a:rPr>
              <a:t>Data &amp; Distribution
</a:t>
            </a:r>
            <a:pPr indent="0" marL="0">
              <a:buNone/>
            </a:pPr>
            <a:r>
              <a:rPr lang="en-US" sz="950" dirty="0">
                <a:solidFill>
                  <a:srgbClr val="A7B5C8"/>
                </a:solidFill>
              </a:rPr>
              <a:t>Why descriptive statistics mattered first.</a:t>
            </a:r>
            <a:endParaRPr lang="en-US" sz="1300" dirty="0"/>
          </a:p>
        </p:txBody>
      </p:sp>
      <p:sp>
        <p:nvSpPr>
          <p:cNvPr id="7" name="Shape 5">
            <a:hlinkClick r:id="rId2" tooltip="Open Data &amp; Distribution" action="ppaction://hlinksldjump"/>
          </p:cNvPr>
          <p:cNvSpPr/>
          <p:nvPr/>
        </p:nvSpPr>
        <p:spPr>
          <a:xfrm>
            <a:off x="4480560" y="1508760"/>
            <a:ext cx="3246120" cy="1417320"/>
          </a:xfrm>
          <a:prstGeom prst="rect">
            <a:avLst/>
          </a:prstGeom>
          <a:solidFill>
            <a:srgbClr val="F8FAFC">
              <a:alpha val="0"/>
            </a:srgbClr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83880" y="1508760"/>
            <a:ext cx="3246120" cy="1417320"/>
          </a:xfrm>
          <a:prstGeom prst="rect">
            <a:avLst/>
          </a:prstGeom>
          <a:solidFill>
            <a:srgbClr val="0F2E49"/>
          </a:solidFill>
          <a:ln>
            <a:solidFill>
              <a:srgbClr val="8B5CF6">
                <a:alpha val="80000"/>
              </a:srgbClr>
            </a:solidFill>
          </a:ln>
          <a:effectLst>
            <a:outerShdw sx="100000" sy="100000" kx="0" ky="0" algn="bl" rotWithShape="0" blurRad="25400" dist="12700" dir="2700000">
              <a:srgbClr val="000000">
                <a:alpha val="25000"/>
              </a:srgbClr>
            </a:outerShdw>
          </a:effectLst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03
</a:t>
            </a:r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</a:rPr>
              <a:t>Confidence Intervals
</a:t>
            </a:r>
            <a:pPr indent="0" marL="0">
              <a:buNone/>
            </a:pPr>
            <a:r>
              <a:rPr lang="en-US" sz="950" dirty="0">
                <a:solidFill>
                  <a:srgbClr val="A7B5C8"/>
                </a:solidFill>
              </a:rPr>
              <a:t>Which cohorts changed between Q4 2021 and Q4 2022?</a:t>
            </a:r>
            <a:endParaRPr lang="en-US" sz="1300" dirty="0"/>
          </a:p>
        </p:txBody>
      </p:sp>
      <p:sp>
        <p:nvSpPr>
          <p:cNvPr id="9" name="Shape 7">
            <a:hlinkClick r:id="rId3" tooltip="Open Confidence Intervals" action="ppaction://hlinksldjump"/>
          </p:cNvPr>
          <p:cNvSpPr/>
          <p:nvPr/>
        </p:nvSpPr>
        <p:spPr>
          <a:xfrm>
            <a:off x="8183880" y="1508760"/>
            <a:ext cx="3246120" cy="1417320"/>
          </a:xfrm>
          <a:prstGeom prst="rect">
            <a:avLst/>
          </a:prstGeom>
          <a:solidFill>
            <a:srgbClr val="F8FAFC">
              <a:alpha val="0"/>
            </a:srgbClr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474720"/>
            <a:ext cx="3246120" cy="1417320"/>
          </a:xfrm>
          <a:prstGeom prst="rect">
            <a:avLst/>
          </a:prstGeom>
          <a:solidFill>
            <a:srgbClr val="0F2E49"/>
          </a:solidFill>
          <a:ln>
            <a:solidFill>
              <a:srgbClr val="FBBF24">
                <a:alpha val="80000"/>
              </a:srgbClr>
            </a:solidFill>
          </a:ln>
          <a:effectLst>
            <a:outerShdw sx="100000" sy="100000" kx="0" ky="0" algn="bl" rotWithShape="0" blurRad="25400" dist="12700" dir="2700000">
              <a:srgbClr val="000000">
                <a:alpha val="25000"/>
              </a:srgbClr>
            </a:outerShdw>
          </a:effectLst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</a:rPr>
              <a:t>04
</a:t>
            </a:r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</a:rPr>
              <a:t>Hypothesis Tests
</a:t>
            </a:r>
            <a:pPr indent="0" marL="0">
              <a:buNone/>
            </a:pPr>
            <a:r>
              <a:rPr lang="en-US" sz="950" dirty="0">
                <a:solidFill>
                  <a:srgbClr val="A7B5C8"/>
                </a:solidFill>
              </a:rPr>
              <a:t>What the t-tests say about the feature impact.</a:t>
            </a:r>
            <a:endParaRPr lang="en-US" sz="1300" dirty="0"/>
          </a:p>
        </p:txBody>
      </p:sp>
      <p:sp>
        <p:nvSpPr>
          <p:cNvPr id="11" name="Shape 9">
            <a:hlinkClick r:id="rId4" tooltip="Open Hypothesis Tests" action="ppaction://hlinksldjump"/>
          </p:cNvPr>
          <p:cNvSpPr/>
          <p:nvPr/>
        </p:nvSpPr>
        <p:spPr>
          <a:xfrm>
            <a:off x="777240" y="3474720"/>
            <a:ext cx="3246120" cy="1417320"/>
          </a:xfrm>
          <a:prstGeom prst="rect">
            <a:avLst/>
          </a:prstGeom>
          <a:solidFill>
            <a:srgbClr val="F8FAFC">
              <a:alpha val="0"/>
            </a:srgbClr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3474720"/>
            <a:ext cx="3246120" cy="1417320"/>
          </a:xfrm>
          <a:prstGeom prst="rect">
            <a:avLst/>
          </a:prstGeom>
          <a:solidFill>
            <a:srgbClr val="0F2E49"/>
          </a:solidFill>
          <a:ln>
            <a:solidFill>
              <a:srgbClr val="2DD4BF">
                <a:alpha val="80000"/>
              </a:srgbClr>
            </a:solidFill>
          </a:ln>
          <a:effectLst>
            <a:outerShdw sx="100000" sy="100000" kx="0" ky="0" algn="bl" rotWithShape="0" blurRad="25400" dist="12700" dir="2700000">
              <a:srgbClr val="000000">
                <a:alpha val="25000"/>
              </a:srgbClr>
            </a:outerShdw>
          </a:effectLst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</a:rPr>
              <a:t>05
</a:t>
            </a:r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</a:rPr>
              <a:t>Business Decision
</a:t>
            </a:r>
            <a:pPr indent="0" marL="0">
              <a:buNone/>
            </a:pPr>
            <a:r>
              <a:rPr lang="en-US" sz="950" dirty="0">
                <a:solidFill>
                  <a:srgbClr val="A7B5C8"/>
                </a:solidFill>
              </a:rPr>
              <a:t>How management should interpret the findings.</a:t>
            </a:r>
            <a:endParaRPr lang="en-US" sz="1300" dirty="0"/>
          </a:p>
        </p:txBody>
      </p:sp>
      <p:sp>
        <p:nvSpPr>
          <p:cNvPr id="13" name="Shape 11">
            <a:hlinkClick r:id="rId5" tooltip="Open Business Decision" action="ppaction://hlinksldjump"/>
          </p:cNvPr>
          <p:cNvSpPr/>
          <p:nvPr/>
        </p:nvSpPr>
        <p:spPr>
          <a:xfrm>
            <a:off x="4480560" y="3474720"/>
            <a:ext cx="3246120" cy="1417320"/>
          </a:xfrm>
          <a:prstGeom prst="rect">
            <a:avLst/>
          </a:prstGeom>
          <a:solidFill>
            <a:srgbClr val="F8FAFC">
              <a:alpha val="0"/>
            </a:srgbClr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3880" y="3474720"/>
            <a:ext cx="3246120" cy="1417320"/>
          </a:xfrm>
          <a:prstGeom prst="rect">
            <a:avLst/>
          </a:prstGeom>
          <a:solidFill>
            <a:srgbClr val="0F2E49"/>
          </a:solidFill>
          <a:ln>
            <a:solidFill>
              <a:srgbClr val="4ADE80">
                <a:alpha val="80000"/>
              </a:srgbClr>
            </a:solidFill>
          </a:ln>
          <a:effectLst>
            <a:outerShdw sx="100000" sy="100000" kx="0" ky="0" algn="bl" rotWithShape="0" blurRad="25400" dist="12700" dir="2700000">
              <a:srgbClr val="000000">
                <a:alpha val="25000"/>
              </a:srgbClr>
            </a:outerShdw>
          </a:effectLst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</a:rPr>
              <a:t>06
</a:t>
            </a:r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</a:rPr>
              <a:t>Portfolio Skills
</a:t>
            </a:r>
            <a:pPr indent="0" marL="0">
              <a:buNone/>
            </a:pPr>
            <a:r>
              <a:rPr lang="en-US" sz="950" dirty="0">
                <a:solidFill>
                  <a:srgbClr val="A7B5C8"/>
                </a:solidFill>
              </a:rPr>
              <a:t>How to explain this project in interviews.</a:t>
            </a:r>
            <a:endParaRPr lang="en-US" sz="1300" dirty="0"/>
          </a:p>
        </p:txBody>
      </p:sp>
      <p:sp>
        <p:nvSpPr>
          <p:cNvPr id="15" name="Shape 13">
            <a:hlinkClick r:id="rId6" tooltip="Open Portfolio Skills" action="ppaction://hlinksldjump"/>
          </p:cNvPr>
          <p:cNvSpPr/>
          <p:nvPr/>
        </p:nvSpPr>
        <p:spPr>
          <a:xfrm>
            <a:off x="8183880" y="3474720"/>
            <a:ext cx="3246120" cy="1417320"/>
          </a:xfrm>
          <a:prstGeom prst="rect">
            <a:avLst/>
          </a:prstGeom>
          <a:solidFill>
            <a:srgbClr val="F8FAFC">
              <a:alpha val="0"/>
            </a:srgbClr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788152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5C8"/>
                </a:solidFill>
              </a:rPr>
              <a:t>Use these buttons during Slide Show mode. The Home button appears on every section slide.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6528816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792A9"/>
                </a:solidFill>
              </a:rPr>
              <a:t>Customer Engagement Analysis • Portfolio Case Study • 2/8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7863840" y="6528816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7792A9"/>
                </a:solidFill>
              </a:rPr>
              <a:t>Interactive PPT: use section buttons in Slide Show mode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Problem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B5C8"/>
                </a:solidFill>
              </a:rPr>
              <a:t>The platform needs evidence before deciding whether new features increased customer engagement.</a:t>
            </a:r>
            <a:endParaRPr lang="en-US" sz="950" dirty="0"/>
          </a:p>
        </p:txBody>
      </p:sp>
      <p:sp>
        <p:nvSpPr>
          <p:cNvPr id="4" name="Text 2">
            <a:hlinkClick r:id="rId1" tooltip="Back to menu" action="ppaction://hlinksldjump"/>
          </p:cNvPr>
          <p:cNvSpPr/>
          <p:nvPr/>
        </p:nvSpPr>
        <p:spPr>
          <a:xfrm>
            <a:off x="10561320" y="347472"/>
            <a:ext cx="960120" cy="292608"/>
          </a:xfrm>
          <a:prstGeom prst="rect">
            <a:avLst/>
          </a:prstGeom>
          <a:solidFill>
            <a:srgbClr val="114567">
              <a:alpha val="92000"/>
            </a:srgbClr>
          </a:solidFill>
          <a:ln>
            <a:solidFill>
              <a:srgbClr val="2F7795">
                <a:alpha val="8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F8FAFC"/>
                </a:solidFill>
                <a:hlinkClick r:id="rId1" action="ppaction://hlinksldjump" tooltip="Back to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298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D6C9"/>
                </a:solidFill>
              </a:rPr>
              <a:t>Question to answer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808" y="1664208"/>
            <a:ext cx="4983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Did student engagement improve in Q4 2022 compared with Q4 2021 — and did the effect differ by plan type?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8096" y="274320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5C8"/>
                </a:solidFill>
              </a:rPr>
              <a:t>I treated this as a practical customer-engagement decision: not only “what changed,” but “what should management do next?”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1426464"/>
            <a:ext cx="2011680" cy="384048"/>
          </a:xfrm>
          <a:prstGeom prst="rect">
            <a:avLst/>
          </a:prstGeom>
          <a:solidFill>
            <a:srgbClr val="19D6C9">
              <a:alpha val="97000"/>
            </a:srgbClr>
          </a:solidFill>
          <a:ln>
            <a:solidFill>
              <a:srgbClr val="19D6C9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Paid students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732520" y="1426464"/>
            <a:ext cx="2011680" cy="384048"/>
          </a:xfrm>
          <a:prstGeom prst="rect">
            <a:avLst/>
          </a:prstGeom>
          <a:solidFill>
            <a:srgbClr val="3B82F6">
              <a:alpha val="97000"/>
            </a:srgbClr>
          </a:solidFill>
          <a:ln>
            <a:solidFill>
              <a:srgbClr val="3B82F6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Free students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0" y="2148840"/>
            <a:ext cx="2011680" cy="384048"/>
          </a:xfrm>
          <a:prstGeom prst="rect">
            <a:avLst/>
          </a:prstGeom>
          <a:solidFill>
            <a:srgbClr val="8B5CF6">
              <a:alpha val="97000"/>
            </a:srgbClr>
          </a:solidFill>
          <a:ln>
            <a:solidFill>
              <a:srgbClr val="8B5CF6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2021 vs 2022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732520" y="2148840"/>
            <a:ext cx="2011680" cy="384048"/>
          </a:xfrm>
          <a:prstGeom prst="rect">
            <a:avLst/>
          </a:prstGeom>
          <a:solidFill>
            <a:srgbClr val="315B96">
              <a:alpha val="97000"/>
            </a:srgbClr>
          </a:solidFill>
          <a:ln>
            <a:solidFill>
              <a:srgbClr val="315B96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US vs India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0" y="30632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D6C9"/>
                </a:solidFill>
              </a:rPr>
              <a:t>Analysis path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3520440"/>
            <a:ext cx="1115568" cy="749808"/>
          </a:xfrm>
          <a:prstGeom prst="rect">
            <a:avLst/>
          </a:prstGeom>
          <a:solidFill>
            <a:srgbClr val="0F2E49">
              <a:alpha val="98000"/>
            </a:srgbClr>
          </a:solidFill>
          <a:ln>
            <a:solidFill>
              <a:srgbClr val="2B6F8F">
                <a:alpha val="60000"/>
              </a:srgbClr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Describe
</a:t>
            </a:r>
            <a:pPr indent="0" marL="0">
              <a:buNone/>
            </a:pPr>
            <a:r>
              <a:rPr lang="en-US" sz="850" dirty="0">
                <a:solidFill>
                  <a:srgbClr val="A7B5C8"/>
                </a:solidFill>
              </a:rPr>
              <a:t>mean, median, skewness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26680" y="3520440"/>
            <a:ext cx="1115568" cy="749808"/>
          </a:xfrm>
          <a:prstGeom prst="rect">
            <a:avLst/>
          </a:prstGeom>
          <a:solidFill>
            <a:srgbClr val="0F2E49">
              <a:alpha val="98000"/>
            </a:srgbClr>
          </a:solidFill>
          <a:ln>
            <a:solidFill>
              <a:srgbClr val="2B6F8F">
                <a:alpha val="60000"/>
              </a:srgbClr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Estimate
</a:t>
            </a:r>
            <a:pPr indent="0" marL="0">
              <a:buNone/>
            </a:pPr>
            <a:r>
              <a:rPr lang="en-US" sz="850" dirty="0">
                <a:solidFill>
                  <a:srgbClr val="A7B5C8"/>
                </a:solidFill>
              </a:rPr>
              <a:t>95% confidence intervals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052560" y="3520440"/>
            <a:ext cx="1115568" cy="749808"/>
          </a:xfrm>
          <a:prstGeom prst="rect">
            <a:avLst/>
          </a:prstGeom>
          <a:solidFill>
            <a:srgbClr val="0F2E49">
              <a:alpha val="98000"/>
            </a:srgbClr>
          </a:solidFill>
          <a:ln>
            <a:solidFill>
              <a:srgbClr val="2B6F8F">
                <a:alpha val="60000"/>
              </a:srgbClr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Test
</a:t>
            </a:r>
            <a:pPr indent="0" marL="0">
              <a:buNone/>
            </a:pPr>
            <a:r>
              <a:rPr lang="en-US" sz="850" dirty="0">
                <a:solidFill>
                  <a:srgbClr val="A7B5C8"/>
                </a:solidFill>
              </a:rPr>
              <a:t>Welch two-sample t-tests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378440" y="3520440"/>
            <a:ext cx="1115568" cy="749808"/>
          </a:xfrm>
          <a:prstGeom prst="rect">
            <a:avLst/>
          </a:prstGeom>
          <a:solidFill>
            <a:srgbClr val="0F2E49">
              <a:alpha val="98000"/>
            </a:srgbClr>
          </a:solidFill>
          <a:ln>
            <a:solidFill>
              <a:srgbClr val="2B6F8F">
                <a:alpha val="60000"/>
              </a:srgbClr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Decide
</a:t>
            </a:r>
            <a:pPr indent="0" marL="0">
              <a:buNone/>
            </a:pPr>
            <a:r>
              <a:rPr lang="en-US" sz="850" dirty="0">
                <a:solidFill>
                  <a:srgbClr val="A7B5C8"/>
                </a:solidFill>
              </a:rPr>
              <a:t>business recommendation</a:t>
            </a:r>
            <a:endParaRPr lang="en-US" sz="1500" dirty="0"/>
          </a:p>
        </p:txBody>
      </p:sp>
      <p:sp>
        <p:nvSpPr>
          <p:cNvPr id="17" name="Text 15">
            <a:hlinkClick r:id="rId2" tooltip="Go to slide 5" action="ppaction://hlinksldjump"/>
          </p:cNvPr>
          <p:cNvSpPr/>
          <p:nvPr/>
        </p:nvSpPr>
        <p:spPr>
          <a:xfrm>
            <a:off x="6446520" y="4919472"/>
            <a:ext cx="1325880" cy="347472"/>
          </a:xfrm>
          <a:prstGeom prst="rect">
            <a:avLst/>
          </a:prstGeom>
          <a:solidFill>
            <a:srgbClr val="19D6C9"/>
          </a:solidFill>
          <a:ln>
            <a:solidFill>
              <a:srgbClr val="19D6C9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u="sng" dirty="0">
                <a:solidFill>
                  <a:srgbClr val="071A2C"/>
                </a:solidFill>
                <a:hlinkClick r:id="rId2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Jump to results</a:t>
            </a:r>
            <a:endParaRPr lang="en-US" sz="950" dirty="0"/>
          </a:p>
        </p:txBody>
      </p:sp>
      <p:sp>
        <p:nvSpPr>
          <p:cNvPr id="18" name="Text 16">
            <a:hlinkClick r:id="rId3" tooltip="Go to slide 7" action="ppaction://hlinksldjump"/>
          </p:cNvPr>
          <p:cNvSpPr/>
          <p:nvPr/>
        </p:nvSpPr>
        <p:spPr>
          <a:xfrm>
            <a:off x="7955280" y="4919472"/>
            <a:ext cx="1508760" cy="347472"/>
          </a:xfrm>
          <a:prstGeom prst="rect">
            <a:avLst/>
          </a:prstGeom>
          <a:solidFill>
            <a:srgbClr val="2DD4BF"/>
          </a:solidFill>
          <a:ln>
            <a:solidFill>
              <a:srgbClr val="2DD4BF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u="sng" dirty="0">
                <a:solidFill>
                  <a:srgbClr val="071A2C"/>
                </a:solidFill>
                <a:hlinkClick r:id="rId3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Jump to decision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6528816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792A9"/>
                </a:solidFill>
              </a:rPr>
              <a:t>Customer Engagement Analysis • Portfolio Case Study • 3/8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7863840" y="6528816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7792A9"/>
                </a:solidFill>
              </a:rPr>
              <a:t>Interactive PPT: use section buttons in Slide Show mode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Descriptive Statistics: Distribution Check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B5C8"/>
                </a:solidFill>
              </a:rPr>
              <a:t>The first warning: minutes watched were not normally distributed, especially in 2022.</a:t>
            </a:r>
            <a:endParaRPr lang="en-US" sz="950" dirty="0"/>
          </a:p>
        </p:txBody>
      </p:sp>
      <p:sp>
        <p:nvSpPr>
          <p:cNvPr id="4" name="Text 2">
            <a:hlinkClick r:id="rId1" tooltip="Back to menu" action="ppaction://hlinksldjump"/>
          </p:cNvPr>
          <p:cNvSpPr/>
          <p:nvPr/>
        </p:nvSpPr>
        <p:spPr>
          <a:xfrm>
            <a:off x="10561320" y="347472"/>
            <a:ext cx="960120" cy="292608"/>
          </a:xfrm>
          <a:prstGeom prst="rect">
            <a:avLst/>
          </a:prstGeom>
          <a:solidFill>
            <a:srgbClr val="114567">
              <a:alpha val="92000"/>
            </a:srgbClr>
          </a:solidFill>
          <a:ln>
            <a:solidFill>
              <a:srgbClr val="2F7795">
                <a:alpha val="8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F8FAFC"/>
                </a:solidFill>
                <a:hlinkClick r:id="rId1" action="ppaction://hlinksldjump" tooltip="Back to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2240280" cy="960120"/>
          </a:xfrm>
          <a:prstGeom prst="rect">
            <a:avLst/>
          </a:prstGeom>
          <a:solidFill>
            <a:srgbClr val="0F2E49">
              <a:alpha val="98000"/>
            </a:srgbClr>
          </a:solidFill>
          <a:ln>
            <a:solidFill>
              <a:srgbClr val="19D6C9">
                <a:alpha val="70000"/>
              </a:srgbClr>
            </a:solidFill>
          </a:ln>
          <a:effectLst>
            <a:outerShdw sx="100000" sy="100000" kx="0" ky="0" algn="bl" rotWithShape="0" blurRad="25400" dist="15240" dir="2700000">
              <a:srgbClr val="000000">
                <a:alpha val="2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7.07</a:t>
            </a:r>
            <a:endParaRPr lang="en-US" sz="2200" dirty="0"/>
          </a:p>
          <a:p>
            <a:pPr indent="0" marL="0">
              <a:buNone/>
            </a:pPr>
            <a:r>
              <a:rPr lang="en-US" sz="900" b="1" dirty="0">
                <a:solidFill>
                  <a:srgbClr val="6EE7E0"/>
                </a:solidFill>
              </a:rPr>
              <a:t>paid-plan skewness, 2022</a:t>
            </a:r>
            <a:endParaRPr lang="en-US" sz="2200" dirty="0"/>
          </a:p>
          <a:p>
            <a:pPr indent="0" marL="0">
              <a:buNone/>
            </a:pPr>
            <a:r>
              <a:rPr lang="en-US" sz="740" dirty="0">
                <a:solidFill>
                  <a:srgbClr val="A7B5C8"/>
                </a:solidFill>
              </a:rPr>
              <a:t>right-skewed usage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46120" y="1371600"/>
            <a:ext cx="2240280" cy="960120"/>
          </a:xfrm>
          <a:prstGeom prst="rect">
            <a:avLst/>
          </a:prstGeom>
          <a:solidFill>
            <a:srgbClr val="0F2E49">
              <a:alpha val="98000"/>
            </a:srgbClr>
          </a:solidFill>
          <a:ln>
            <a:solidFill>
              <a:srgbClr val="3B82F6">
                <a:alpha val="70000"/>
              </a:srgbClr>
            </a:solidFill>
          </a:ln>
          <a:effectLst>
            <a:outerShdw sx="100000" sy="100000" kx="0" ky="0" algn="bl" rotWithShape="0" blurRad="25400" dist="15240" dir="2700000">
              <a:srgbClr val="000000">
                <a:alpha val="2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15.06</a:t>
            </a:r>
            <a:endParaRPr lang="en-US" sz="2200" dirty="0"/>
          </a:p>
          <a:p>
            <a:pPr indent="0" marL="0">
              <a:buNone/>
            </a:pPr>
            <a:r>
              <a:rPr lang="en-US" sz="900" b="1" dirty="0">
                <a:solidFill>
                  <a:srgbClr val="6EE7E0"/>
                </a:solidFill>
              </a:rPr>
              <a:t>free-plan skewness, 2022</a:t>
            </a:r>
            <a:endParaRPr lang="en-US" sz="2200" dirty="0"/>
          </a:p>
          <a:p>
            <a:pPr indent="0" marL="0">
              <a:buNone/>
            </a:pPr>
            <a:r>
              <a:rPr lang="en-US" sz="740" dirty="0">
                <a:solidFill>
                  <a:srgbClr val="A7B5C8"/>
                </a:solidFill>
              </a:rPr>
              <a:t>more extreme right tail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760720" y="1371600"/>
            <a:ext cx="2240280" cy="960120"/>
          </a:xfrm>
          <a:prstGeom prst="rect">
            <a:avLst/>
          </a:prstGeom>
          <a:solidFill>
            <a:srgbClr val="0F2E49">
              <a:alpha val="98000"/>
            </a:srgbClr>
          </a:solidFill>
          <a:ln>
            <a:solidFill>
              <a:srgbClr val="8B5CF6">
                <a:alpha val="70000"/>
              </a:srgbClr>
            </a:solidFill>
          </a:ln>
          <a:effectLst>
            <a:outerShdw sx="100000" sy="100000" kx="0" ky="0" algn="bl" rotWithShape="0" blurRad="25400" dist="15240" dir="2700000">
              <a:srgbClr val="000000">
                <a:alpha val="2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315.76</a:t>
            </a:r>
            <a:endParaRPr lang="en-US" sz="2200" dirty="0"/>
          </a:p>
          <a:p>
            <a:pPr indent="0" marL="0">
              <a:buNone/>
            </a:pPr>
            <a:r>
              <a:rPr lang="en-US" sz="900" b="1" dirty="0">
                <a:solidFill>
                  <a:srgbClr val="6EE7E0"/>
                </a:solidFill>
              </a:rPr>
              <a:t>free-plan kurtosis, 2022</a:t>
            </a:r>
            <a:endParaRPr lang="en-US" sz="2200" dirty="0"/>
          </a:p>
          <a:p>
            <a:pPr indent="0" marL="0">
              <a:buNone/>
            </a:pPr>
            <a:r>
              <a:rPr lang="en-US" sz="740" dirty="0">
                <a:solidFill>
                  <a:srgbClr val="A7B5C8"/>
                </a:solidFill>
              </a:rPr>
              <a:t>very heavy tail/outliers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75320" y="1371600"/>
            <a:ext cx="2560320" cy="960120"/>
          </a:xfrm>
          <a:prstGeom prst="rect">
            <a:avLst/>
          </a:prstGeom>
          <a:solidFill>
            <a:srgbClr val="0F2E49">
              <a:alpha val="98000"/>
            </a:srgbClr>
          </a:solidFill>
          <a:ln>
            <a:solidFill>
              <a:srgbClr val="2DD4BF">
                <a:alpha val="70000"/>
              </a:srgbClr>
            </a:solidFill>
          </a:ln>
          <a:effectLst>
            <a:outerShdw sx="100000" sy="100000" kx="0" ky="0" algn="bl" rotWithShape="0" blurRad="25400" dist="15240" dir="2700000">
              <a:srgbClr val="000000">
                <a:alpha val="2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Option 2</a:t>
            </a:r>
            <a:endParaRPr lang="en-US" sz="2200" dirty="0"/>
          </a:p>
          <a:p>
            <a:pPr indent="0" marL="0">
              <a:buNone/>
            </a:pPr>
            <a:r>
              <a:rPr lang="en-US" sz="900" b="1" dirty="0">
                <a:solidFill>
                  <a:srgbClr val="6EE7E0"/>
                </a:solidFill>
              </a:rPr>
              <a:t>best answer</a:t>
            </a:r>
            <a:endParaRPr lang="en-US" sz="2200" dirty="0"/>
          </a:p>
          <a:p>
            <a:pPr indent="0" marL="0">
              <a:buNone/>
            </a:pPr>
            <a:r>
              <a:rPr lang="en-US" sz="740" dirty="0">
                <a:solidFill>
                  <a:srgbClr val="A7B5C8"/>
                </a:solidFill>
              </a:rPr>
              <a:t>paid 2022 skew &lt; free 2022 skew</a:t>
            </a:r>
            <a:endParaRPr lang="en-US" sz="2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822960" y="2788920"/>
          <a:ext cx="502920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7"/>
          <p:cNvSpPr/>
          <p:nvPr/>
        </p:nvSpPr>
        <p:spPr>
          <a:xfrm>
            <a:off x="6492240" y="2926080"/>
            <a:ext cx="4526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Mean is not close to median in the 2022 groups. That signals a long right tail: a small number of students watched very high minutes while many watched little.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510528" y="416052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B5C8"/>
                </a:solidFill>
              </a:rPr>
              <a:t>Portfolio takeaway: before presenting averages, check the distribution so the business does not overinterpret a mean driven by heavy users.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92240" y="5074920"/>
            <a:ext cx="2011680" cy="384048"/>
          </a:xfrm>
          <a:prstGeom prst="rect">
            <a:avLst/>
          </a:prstGeom>
          <a:solidFill>
            <a:srgbClr val="F87171">
              <a:alpha val="97000"/>
            </a:srgbClr>
          </a:solidFill>
          <a:ln>
            <a:solidFill>
              <a:srgbClr val="F87171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Not normal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732520" y="5074920"/>
            <a:ext cx="2011680" cy="384048"/>
          </a:xfrm>
          <a:prstGeom prst="rect">
            <a:avLst/>
          </a:prstGeom>
          <a:solidFill>
            <a:srgbClr val="3B82F6">
              <a:alpha val="97000"/>
            </a:srgbClr>
          </a:solidFill>
          <a:ln>
            <a:solidFill>
              <a:srgbClr val="3B82F6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Skewed users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94360" y="6528816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792A9"/>
                </a:solidFill>
              </a:rPr>
              <a:t>Customer Engagement Analysis • Portfolio Case Study • 4/8</a:t>
            </a:r>
            <a:endParaRPr lang="en-US" sz="680" dirty="0"/>
          </a:p>
        </p:txBody>
      </p:sp>
      <p:sp>
        <p:nvSpPr>
          <p:cNvPr id="15" name="Text 12"/>
          <p:cNvSpPr/>
          <p:nvPr/>
        </p:nvSpPr>
        <p:spPr>
          <a:xfrm>
            <a:off x="7863840" y="6528816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7792A9"/>
                </a:solidFill>
              </a:rPr>
              <a:t>Interactive PPT: use section buttons in Slide Show mode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Confidence Intervals: What Changed?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B5C8"/>
                </a:solidFill>
              </a:rPr>
              <a:t>95% confidence intervals show clear movement in opposite directions for paid vs free students.</a:t>
            </a:r>
            <a:endParaRPr lang="en-US" sz="950" dirty="0"/>
          </a:p>
        </p:txBody>
      </p:sp>
      <p:sp>
        <p:nvSpPr>
          <p:cNvPr id="4" name="Text 2">
            <a:hlinkClick r:id="rId1" tooltip="Back to menu" action="ppaction://hlinksldjump"/>
          </p:cNvPr>
          <p:cNvSpPr/>
          <p:nvPr/>
        </p:nvSpPr>
        <p:spPr>
          <a:xfrm>
            <a:off x="10561320" y="347472"/>
            <a:ext cx="960120" cy="292608"/>
          </a:xfrm>
          <a:prstGeom prst="rect">
            <a:avLst/>
          </a:prstGeom>
          <a:solidFill>
            <a:srgbClr val="114567">
              <a:alpha val="92000"/>
            </a:srgbClr>
          </a:solidFill>
          <a:ln>
            <a:solidFill>
              <a:srgbClr val="2F7795">
                <a:alpha val="8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F8FAFC"/>
                </a:solidFill>
                <a:hlinkClick r:id="rId1" action="ppaction://hlinksldjump" tooltip="Back to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900" dirty="0"/>
          </a:p>
        </p:txBody>
      </p:sp>
      <p:pic>
        <p:nvPicPr>
          <p:cNvPr id="5" name="Image 0" descr="/mnt/data/engagement_mea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5486400" cy="2514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29400" y="1161288"/>
            <a:ext cx="2103120" cy="960120"/>
          </a:xfrm>
          <a:prstGeom prst="rect">
            <a:avLst/>
          </a:prstGeom>
          <a:solidFill>
            <a:srgbClr val="0F2E49">
              <a:alpha val="98000"/>
            </a:srgbClr>
          </a:solidFill>
          <a:ln>
            <a:solidFill>
              <a:srgbClr val="19D6C9">
                <a:alpha val="70000"/>
              </a:srgbClr>
            </a:solidFill>
          </a:ln>
          <a:effectLst>
            <a:outerShdw sx="100000" sy="100000" kx="0" ky="0" algn="bl" rotWithShape="0" blurRad="25400" dist="15240" dir="2700000">
              <a:srgbClr val="000000">
                <a:alpha val="2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316.25–348.76</a:t>
            </a:r>
            <a:endParaRPr lang="en-US" sz="2200" dirty="0"/>
          </a:p>
          <a:p>
            <a:pPr indent="0" marL="0">
              <a:buNone/>
            </a:pPr>
            <a:r>
              <a:rPr lang="en-US" sz="900" b="1" dirty="0">
                <a:solidFill>
                  <a:srgbClr val="6EE7E0"/>
                </a:solidFill>
              </a:rPr>
              <a:t>paid Q4 2021 CI</a:t>
            </a:r>
            <a:endParaRPr lang="en-US" sz="2200" dirty="0"/>
          </a:p>
          <a:p>
            <a:pPr indent="0" marL="0">
              <a:buNone/>
            </a:pPr>
            <a:r>
              <a:rPr lang="en-US" sz="740" dirty="0">
                <a:solidFill>
                  <a:srgbClr val="A7B5C8"/>
                </a:solidFill>
              </a:rPr>
              <a:t>mean = 332.50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189720" y="1161288"/>
            <a:ext cx="2103120" cy="960120"/>
          </a:xfrm>
          <a:prstGeom prst="rect">
            <a:avLst/>
          </a:prstGeom>
          <a:solidFill>
            <a:srgbClr val="0F2E49">
              <a:alpha val="98000"/>
            </a:srgbClr>
          </a:solidFill>
          <a:ln>
            <a:solidFill>
              <a:srgbClr val="19D6C9">
                <a:alpha val="70000"/>
              </a:srgbClr>
            </a:solidFill>
          </a:ln>
          <a:effectLst>
            <a:outerShdw sx="100000" sy="100000" kx="0" ky="0" algn="bl" rotWithShape="0" blurRad="25400" dist="15240" dir="2700000">
              <a:srgbClr val="000000">
                <a:alpha val="2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351.99–384.72</a:t>
            </a:r>
            <a:endParaRPr lang="en-US" sz="2200" dirty="0"/>
          </a:p>
          <a:p>
            <a:pPr indent="0" marL="0">
              <a:buNone/>
            </a:pPr>
            <a:r>
              <a:rPr lang="en-US" sz="900" b="1" dirty="0">
                <a:solidFill>
                  <a:srgbClr val="6EE7E0"/>
                </a:solidFill>
              </a:rPr>
              <a:t>paid Q4 2022 CI</a:t>
            </a:r>
            <a:endParaRPr lang="en-US" sz="2200" dirty="0"/>
          </a:p>
          <a:p>
            <a:pPr indent="0" marL="0">
              <a:buNone/>
            </a:pPr>
            <a:r>
              <a:rPr lang="en-US" sz="740" dirty="0">
                <a:solidFill>
                  <a:srgbClr val="A7B5C8"/>
                </a:solidFill>
              </a:rPr>
              <a:t>mean = 368.35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629400" y="2514600"/>
            <a:ext cx="2103120" cy="960120"/>
          </a:xfrm>
          <a:prstGeom prst="rect">
            <a:avLst/>
          </a:prstGeom>
          <a:solidFill>
            <a:srgbClr val="0F2E49">
              <a:alpha val="98000"/>
            </a:srgbClr>
          </a:solidFill>
          <a:ln>
            <a:solidFill>
              <a:srgbClr val="3B82F6">
                <a:alpha val="70000"/>
              </a:srgbClr>
            </a:solidFill>
          </a:ln>
          <a:effectLst>
            <a:outerShdw sx="100000" sy="100000" kx="0" ky="0" algn="bl" rotWithShape="0" blurRad="25400" dist="15240" dir="2700000">
              <a:srgbClr val="000000">
                <a:alpha val="2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129.92–137.95</a:t>
            </a:r>
            <a:endParaRPr lang="en-US" sz="2200" dirty="0"/>
          </a:p>
          <a:p>
            <a:pPr indent="0" marL="0">
              <a:buNone/>
            </a:pPr>
            <a:r>
              <a:rPr lang="en-US" sz="900" b="1" dirty="0">
                <a:solidFill>
                  <a:srgbClr val="6EE7E0"/>
                </a:solidFill>
              </a:rPr>
              <a:t>free Q4 2021 CI</a:t>
            </a:r>
            <a:endParaRPr lang="en-US" sz="2200" dirty="0"/>
          </a:p>
          <a:p>
            <a:pPr indent="0" marL="0">
              <a:buNone/>
            </a:pPr>
            <a:r>
              <a:rPr lang="en-US" sz="740" dirty="0">
                <a:solidFill>
                  <a:srgbClr val="A7B5C8"/>
                </a:solidFill>
              </a:rPr>
              <a:t>mean = 133.93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89720" y="2514600"/>
            <a:ext cx="2103120" cy="960120"/>
          </a:xfrm>
          <a:prstGeom prst="rect">
            <a:avLst/>
          </a:prstGeom>
          <a:solidFill>
            <a:srgbClr val="0F2E49">
              <a:alpha val="98000"/>
            </a:srgbClr>
          </a:solidFill>
          <a:ln>
            <a:solidFill>
              <a:srgbClr val="3B82F6">
                <a:alpha val="70000"/>
              </a:srgbClr>
            </a:solidFill>
          </a:ln>
          <a:effectLst>
            <a:outerShdw sx="100000" sy="100000" kx="0" ky="0" algn="bl" rotWithShape="0" blurRad="25400" dist="15240" dir="2700000">
              <a:srgbClr val="000000">
                <a:alpha val="2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67.71–70.59</a:t>
            </a:r>
            <a:endParaRPr lang="en-US" sz="2200" dirty="0"/>
          </a:p>
          <a:p>
            <a:pPr indent="0" marL="0">
              <a:buNone/>
            </a:pPr>
            <a:r>
              <a:rPr lang="en-US" sz="900" b="1" dirty="0">
                <a:solidFill>
                  <a:srgbClr val="6EE7E0"/>
                </a:solidFill>
              </a:rPr>
              <a:t>free Q4 2022 CI</a:t>
            </a:r>
            <a:endParaRPr lang="en-US" sz="2200" dirty="0"/>
          </a:p>
          <a:p>
            <a:pPr indent="0" marL="0">
              <a:buNone/>
            </a:pPr>
            <a:r>
              <a:rPr lang="en-US" sz="740" dirty="0">
                <a:solidFill>
                  <a:srgbClr val="A7B5C8"/>
                </a:solidFill>
              </a:rPr>
              <a:t>mean = 69.15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77240" y="4069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D6C9"/>
                </a:solidFill>
              </a:rPr>
              <a:t>Conclusion from intervals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95528" y="4480560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Paid students: 2022 interval is entirely above 2021 → engagement increased.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Free students: 2022 interval is entirely below 2021 → engagement decreased.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601968" y="4343400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B5C8"/>
                </a:solidFill>
              </a:rPr>
              <a:t>The intervals do not overlap for either segment, so the direction of change is visually clear.</a:t>
            </a:r>
            <a:endParaRPr lang="en-US" sz="1300" dirty="0"/>
          </a:p>
        </p:txBody>
      </p:sp>
      <p:sp>
        <p:nvSpPr>
          <p:cNvPr id="13" name="Text 10">
            <a:hlinkClick r:id="rId3" tooltip="Go to slide 6" action="ppaction://hlinksldjump"/>
          </p:cNvPr>
          <p:cNvSpPr/>
          <p:nvPr/>
        </p:nvSpPr>
        <p:spPr>
          <a:xfrm>
            <a:off x="6629400" y="5166360"/>
            <a:ext cx="1645920" cy="347472"/>
          </a:xfrm>
          <a:prstGeom prst="rect">
            <a:avLst/>
          </a:prstGeom>
          <a:solidFill>
            <a:srgbClr val="FBBF24"/>
          </a:solidFill>
          <a:ln>
            <a:solidFill>
              <a:srgbClr val="FBBF24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u="sng" dirty="0">
                <a:solidFill>
                  <a:srgbClr val="071A2C"/>
                </a:solidFill>
                <a:hlinkClick r:id="rId3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hypothesis test →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94360" y="6528816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792A9"/>
                </a:solidFill>
              </a:rPr>
              <a:t>Customer Engagement Analysis • Portfolio Case Study • 5/8</a:t>
            </a:r>
            <a:endParaRPr lang="en-US" sz="680" dirty="0"/>
          </a:p>
        </p:txBody>
      </p:sp>
      <p:sp>
        <p:nvSpPr>
          <p:cNvPr id="15" name="Text 12"/>
          <p:cNvSpPr/>
          <p:nvPr/>
        </p:nvSpPr>
        <p:spPr>
          <a:xfrm>
            <a:off x="7863840" y="6528816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7792A9"/>
                </a:solidFill>
              </a:rPr>
              <a:t>Interactive PPT: use section buttons in Slide Show mode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Hypothesis Testing: Evidence for the Decision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B5C8"/>
                </a:solidFill>
              </a:rPr>
              <a:t>Welch two-sample t-tests were used because the F-tests supported unequal variances.</a:t>
            </a:r>
            <a:endParaRPr lang="en-US" sz="950" dirty="0"/>
          </a:p>
        </p:txBody>
      </p:sp>
      <p:sp>
        <p:nvSpPr>
          <p:cNvPr id="4" name="Text 2">
            <a:hlinkClick r:id="rId1" tooltip="Back to menu" action="ppaction://hlinksldjump"/>
          </p:cNvPr>
          <p:cNvSpPr/>
          <p:nvPr/>
        </p:nvSpPr>
        <p:spPr>
          <a:xfrm>
            <a:off x="10561320" y="347472"/>
            <a:ext cx="960120" cy="292608"/>
          </a:xfrm>
          <a:prstGeom prst="rect">
            <a:avLst/>
          </a:prstGeom>
          <a:solidFill>
            <a:srgbClr val="114567">
              <a:alpha val="92000"/>
            </a:srgbClr>
          </a:solidFill>
          <a:ln>
            <a:solidFill>
              <a:srgbClr val="2F7795">
                <a:alpha val="8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F8FAFC"/>
                </a:solidFill>
                <a:hlinkClick r:id="rId1" action="ppaction://hlinksldjump" tooltip="Back to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3232" y="11704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5C8"/>
                </a:solidFill>
              </a:rPr>
              <a:t>Null hypothesis tested separately by segment: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3232" y="148132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H₀: μ₂₀₂₁ ≥ μ₂₀₂₂   vs.   H₁: μ₂₀₂₁ &lt; μ₂₀₂₂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49808" y="2240280"/>
            <a:ext cx="2788920" cy="960120"/>
          </a:xfrm>
          <a:prstGeom prst="rect">
            <a:avLst/>
          </a:prstGeom>
          <a:solidFill>
            <a:srgbClr val="0F2E49">
              <a:alpha val="98000"/>
            </a:srgbClr>
          </a:solidFill>
          <a:ln>
            <a:solidFill>
              <a:srgbClr val="2DD4BF">
                <a:alpha val="70000"/>
              </a:srgbClr>
            </a:solidFill>
          </a:ln>
          <a:effectLst>
            <a:outerShdw sx="100000" sy="100000" kx="0" ky="0" algn="bl" rotWithShape="0" blurRad="25400" dist="15240" dir="2700000">
              <a:srgbClr val="000000">
                <a:alpha val="2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−3.05</a:t>
            </a:r>
            <a:endParaRPr lang="en-US" sz="2200" dirty="0"/>
          </a:p>
          <a:p>
            <a:pPr indent="0" marL="0">
              <a:buNone/>
            </a:pPr>
            <a:r>
              <a:rPr lang="en-US" sz="900" b="1" dirty="0">
                <a:solidFill>
                  <a:srgbClr val="6EE7E0"/>
                </a:solidFill>
              </a:rPr>
              <a:t>paid-plan t-statistic</a:t>
            </a:r>
            <a:endParaRPr lang="en-US" sz="2200" dirty="0"/>
          </a:p>
          <a:p>
            <a:pPr indent="0" marL="0">
              <a:buNone/>
            </a:pPr>
            <a:r>
              <a:rPr lang="en-US" sz="740" dirty="0">
                <a:solidFill>
                  <a:srgbClr val="A7B5C8"/>
                </a:solidFill>
              </a:rPr>
              <a:t>reject H₀ • significant increase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794760" y="2240280"/>
            <a:ext cx="2788920" cy="960120"/>
          </a:xfrm>
          <a:prstGeom prst="rect">
            <a:avLst/>
          </a:prstGeom>
          <a:solidFill>
            <a:srgbClr val="0F2E49">
              <a:alpha val="98000"/>
            </a:srgbClr>
          </a:solidFill>
          <a:ln>
            <a:solidFill>
              <a:srgbClr val="F87171">
                <a:alpha val="70000"/>
              </a:srgbClr>
            </a:solidFill>
          </a:ln>
          <a:effectLst>
            <a:outerShdw sx="100000" sy="100000" kx="0" ky="0" algn="bl" rotWithShape="0" blurRad="25400" dist="15240" dir="2700000">
              <a:srgbClr val="000000">
                <a:alpha val="2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29.78</a:t>
            </a:r>
            <a:endParaRPr lang="en-US" sz="2200" dirty="0"/>
          </a:p>
          <a:p>
            <a:pPr indent="0" marL="0">
              <a:buNone/>
            </a:pPr>
            <a:r>
              <a:rPr lang="en-US" sz="900" b="1" dirty="0">
                <a:solidFill>
                  <a:srgbClr val="6EE7E0"/>
                </a:solidFill>
              </a:rPr>
              <a:t>free-plan t-statistic</a:t>
            </a:r>
            <a:endParaRPr lang="en-US" sz="2200" dirty="0"/>
          </a:p>
          <a:p>
            <a:pPr indent="0" marL="0">
              <a:buNone/>
            </a:pPr>
            <a:r>
              <a:rPr lang="en-US" sz="740" dirty="0">
                <a:solidFill>
                  <a:srgbClr val="A7B5C8"/>
                </a:solidFill>
              </a:rPr>
              <a:t>fail to reject H₀ • decline, not increase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39712" y="2240280"/>
            <a:ext cx="2834640" cy="960120"/>
          </a:xfrm>
          <a:prstGeom prst="rect">
            <a:avLst/>
          </a:prstGeom>
          <a:solidFill>
            <a:srgbClr val="0F2E49">
              <a:alpha val="98000"/>
            </a:srgbClr>
          </a:solidFill>
          <a:ln>
            <a:solidFill>
              <a:srgbClr val="3B82F6">
                <a:alpha val="70000"/>
              </a:srgbClr>
            </a:solidFill>
          </a:ln>
          <a:effectLst>
            <a:outerShdw sx="100000" sy="100000" kx="0" ky="0" algn="bl" rotWithShape="0" blurRad="25400" dist="15240" dir="2700000">
              <a:srgbClr val="000000">
                <a:alpha val="2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−1.21</a:t>
            </a:r>
            <a:endParaRPr lang="en-US" sz="2200" dirty="0"/>
          </a:p>
          <a:p>
            <a:pPr indent="0" marL="0">
              <a:buNone/>
            </a:pPr>
            <a:r>
              <a:rPr lang="en-US" sz="900" b="1" dirty="0">
                <a:solidFill>
                  <a:srgbClr val="6EE7E0"/>
                </a:solidFill>
              </a:rPr>
              <a:t>US vs India t-statistic</a:t>
            </a:r>
            <a:endParaRPr lang="en-US" sz="2200" dirty="0"/>
          </a:p>
          <a:p>
            <a:pPr indent="0" marL="0">
              <a:buNone/>
            </a:pPr>
            <a:r>
              <a:rPr lang="en-US" sz="740" dirty="0">
                <a:solidFill>
                  <a:srgbClr val="A7B5C8"/>
                </a:solidFill>
              </a:rPr>
              <a:t>fail to reject H₀ • no valid conclusion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9808" y="38862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D6C9"/>
                </a:solidFill>
              </a:rPr>
              <a:t>Critical-value logic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8096" y="4343400"/>
            <a:ext cx="6583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7B5C8"/>
                </a:solidFill>
              </a:rPr>
              <a:t>For the one-tailed tests, the critical value is about 1.65 in magnitude. Paid students cross the decision threshold; free-plan students move in the opposite direction; US vs India does not cross the threshold.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818120" y="38862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</a:rPr>
              <a:t>Type I vs Type II error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36408" y="43434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7B5C8"/>
                </a:solidFill>
              </a:rPr>
              <a:t>Type I may cost more if the company scales features that do not really improve engagement. Type II means missing a useful feature and lost opportunity.</a:t>
            </a:r>
            <a:endParaRPr lang="en-US" sz="1100" dirty="0"/>
          </a:p>
        </p:txBody>
      </p:sp>
      <p:sp>
        <p:nvSpPr>
          <p:cNvPr id="14" name="Text 12">
            <a:hlinkClick r:id="rId2" tooltip="Go to slide 7" action="ppaction://hlinksldjump"/>
          </p:cNvPr>
          <p:cNvSpPr/>
          <p:nvPr/>
        </p:nvSpPr>
        <p:spPr>
          <a:xfrm>
            <a:off x="7863840" y="5440680"/>
            <a:ext cx="1600200" cy="347472"/>
          </a:xfrm>
          <a:prstGeom prst="rect">
            <a:avLst/>
          </a:prstGeom>
          <a:solidFill>
            <a:srgbClr val="2DD4BF"/>
          </a:solidFill>
          <a:ln>
            <a:solidFill>
              <a:srgbClr val="2DD4BF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u="sng" dirty="0">
                <a:solidFill>
                  <a:srgbClr val="071A2C"/>
                </a:solidFill>
                <a:hlinkClick r:id="rId2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Business decision →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6528816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792A9"/>
                </a:solidFill>
              </a:rPr>
              <a:t>Customer Engagement Analysis • Portfolio Case Study • 6/8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7863840" y="6528816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7792A9"/>
                </a:solidFill>
              </a:rPr>
              <a:t>Interactive PPT: use section buttons in Slide Show mode</a:t>
            </a:r>
            <a:endParaRPr lang="en-US" sz="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lean_modern_infographic_style_digital_illu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38404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Decision: Segment the Product Story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621792" y="8412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B5C8"/>
                </a:solidFill>
              </a:rPr>
              <a:t>The features may be working for paid students, but the free-plan experience needs investigation.</a:t>
            </a:r>
            <a:endParaRPr lang="en-US" sz="950" dirty="0"/>
          </a:p>
        </p:txBody>
      </p:sp>
      <p:sp>
        <p:nvSpPr>
          <p:cNvPr id="5" name="Text 2">
            <a:hlinkClick r:id="rId2" tooltip="Back to menu" action="ppaction://hlinksldjump"/>
          </p:cNvPr>
          <p:cNvSpPr/>
          <p:nvPr/>
        </p:nvSpPr>
        <p:spPr>
          <a:xfrm>
            <a:off x="10561320" y="347472"/>
            <a:ext cx="960120" cy="292608"/>
          </a:xfrm>
          <a:prstGeom prst="rect">
            <a:avLst/>
          </a:prstGeom>
          <a:solidFill>
            <a:srgbClr val="114567">
              <a:alpha val="92000"/>
            </a:srgbClr>
          </a:solidFill>
          <a:ln>
            <a:solidFill>
              <a:srgbClr val="2F7795">
                <a:alpha val="8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F8FAFC"/>
                </a:solidFill>
                <a:hlinkClick r:id="rId2" action="ppaction://hlinksldjump" tooltip="Back to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68096" y="129844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Management should not claim a platform-wide engagement win.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86384" y="2029968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7D2FE"/>
                </a:solidFill>
              </a:rPr>
              <a:t>The evidence is segmented: paid-plan engagement increased, free-plan engagement fell sharply, and the US–India difference was not statistically conclusive.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4672" y="3154680"/>
            <a:ext cx="2514600" cy="960120"/>
          </a:xfrm>
          <a:prstGeom prst="rect">
            <a:avLst/>
          </a:prstGeom>
          <a:solidFill>
            <a:srgbClr val="0F2E49">
              <a:alpha val="98000"/>
            </a:srgbClr>
          </a:solidFill>
          <a:ln>
            <a:solidFill>
              <a:srgbClr val="2DD4BF">
                <a:alpha val="70000"/>
              </a:srgbClr>
            </a:solidFill>
          </a:ln>
          <a:effectLst>
            <a:outerShdw sx="100000" sy="100000" kx="0" ky="0" algn="bl" rotWithShape="0" blurRad="25400" dist="15240" dir="2700000">
              <a:srgbClr val="000000">
                <a:alpha val="2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+10.8%</a:t>
            </a:r>
            <a:endParaRPr lang="en-US" sz="2200" dirty="0"/>
          </a:p>
          <a:p>
            <a:pPr indent="0" marL="0">
              <a:buNone/>
            </a:pPr>
            <a:r>
              <a:rPr lang="en-US" sz="900" b="1" dirty="0">
                <a:solidFill>
                  <a:srgbClr val="6EE7E0"/>
                </a:solidFill>
              </a:rPr>
              <a:t>paid subscribers</a:t>
            </a:r>
            <a:endParaRPr lang="en-US" sz="2200" dirty="0"/>
          </a:p>
          <a:p>
            <a:pPr indent="0" marL="0">
              <a:buNone/>
            </a:pPr>
            <a:r>
              <a:rPr lang="en-US" sz="740" dirty="0">
                <a:solidFill>
                  <a:srgbClr val="A7B5C8"/>
                </a:solidFill>
              </a:rPr>
              <a:t>statistically significant increase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611880" y="3154680"/>
            <a:ext cx="2514600" cy="960120"/>
          </a:xfrm>
          <a:prstGeom prst="rect">
            <a:avLst/>
          </a:prstGeom>
          <a:solidFill>
            <a:srgbClr val="0F2E49">
              <a:alpha val="98000"/>
            </a:srgbClr>
          </a:solidFill>
          <a:ln>
            <a:solidFill>
              <a:srgbClr val="F87171">
                <a:alpha val="70000"/>
              </a:srgbClr>
            </a:solidFill>
          </a:ln>
          <a:effectLst>
            <a:outerShdw sx="100000" sy="100000" kx="0" ky="0" algn="bl" rotWithShape="0" blurRad="25400" dist="15240" dir="2700000">
              <a:srgbClr val="000000">
                <a:alpha val="2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−48.4%</a:t>
            </a:r>
            <a:endParaRPr lang="en-US" sz="2200" dirty="0"/>
          </a:p>
          <a:p>
            <a:pPr indent="0" marL="0">
              <a:buNone/>
            </a:pPr>
            <a:r>
              <a:rPr lang="en-US" sz="900" b="1" dirty="0">
                <a:solidFill>
                  <a:srgbClr val="6EE7E0"/>
                </a:solidFill>
              </a:rPr>
              <a:t>free users</a:t>
            </a:r>
            <a:endParaRPr lang="en-US" sz="2200" dirty="0"/>
          </a:p>
          <a:p>
            <a:pPr indent="0" marL="0">
              <a:buNone/>
            </a:pPr>
            <a:r>
              <a:rPr lang="en-US" sz="740" dirty="0">
                <a:solidFill>
                  <a:srgbClr val="A7B5C8"/>
                </a:solidFill>
              </a:rPr>
              <a:t>substantial decline in engagement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419088" y="3154680"/>
            <a:ext cx="2697480" cy="960120"/>
          </a:xfrm>
          <a:prstGeom prst="rect">
            <a:avLst/>
          </a:prstGeom>
          <a:solidFill>
            <a:srgbClr val="0F2E49">
              <a:alpha val="98000"/>
            </a:srgbClr>
          </a:solidFill>
          <a:ln>
            <a:solidFill>
              <a:srgbClr val="3B82F6">
                <a:alpha val="70000"/>
              </a:srgbClr>
            </a:solidFill>
          </a:ln>
          <a:effectLst>
            <a:outerShdw sx="100000" sy="100000" kx="0" ky="0" algn="bl" rotWithShape="0" blurRad="25400" dist="15240" dir="2700000">
              <a:srgbClr val="000000">
                <a:alpha val="2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no valid conclusion</a:t>
            </a:r>
            <a:endParaRPr lang="en-US" sz="2200" dirty="0"/>
          </a:p>
          <a:p>
            <a:pPr indent="0" marL="0">
              <a:buNone/>
            </a:pPr>
            <a:r>
              <a:rPr lang="en-US" sz="900" b="1" dirty="0">
                <a:solidFill>
                  <a:srgbClr val="6EE7E0"/>
                </a:solidFill>
              </a:rPr>
              <a:t>geo test</a:t>
            </a:r>
            <a:endParaRPr lang="en-US" sz="2200" dirty="0"/>
          </a:p>
          <a:p>
            <a:pPr indent="0" marL="0">
              <a:buNone/>
            </a:pPr>
            <a:r>
              <a:rPr lang="en-US" sz="740" dirty="0">
                <a:solidFill>
                  <a:srgbClr val="A7B5C8"/>
                </a:solidFill>
              </a:rPr>
              <a:t>US vs India at 5% significance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22960" y="48646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D6C9"/>
                </a:solidFill>
              </a:rPr>
              <a:t>Recommended next step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41248" y="51937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Run a deeper feature-level analysis: compare which features paid students use, investigate free-plan friction, and avoid rolling out changes based only on aggregate averages.</a:t>
            </a:r>
            <a:endParaRPr lang="en-US" sz="1300" dirty="0"/>
          </a:p>
        </p:txBody>
      </p:sp>
      <p:sp>
        <p:nvSpPr>
          <p:cNvPr id="13" name="Text 10">
            <a:hlinkClick r:id="rId3" tooltip="Go to slide 8" action="ppaction://hlinksldjump"/>
          </p:cNvPr>
          <p:cNvSpPr/>
          <p:nvPr/>
        </p:nvSpPr>
        <p:spPr>
          <a:xfrm>
            <a:off x="9098280" y="5257800"/>
            <a:ext cx="1737360" cy="347472"/>
          </a:xfrm>
          <a:prstGeom prst="rect">
            <a:avLst/>
          </a:prstGeom>
          <a:solidFill>
            <a:srgbClr val="19D6C9"/>
          </a:solidFill>
          <a:ln>
            <a:solidFill>
              <a:srgbClr val="19D6C9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u="sng" dirty="0">
                <a:solidFill>
                  <a:srgbClr val="071A2C"/>
                </a:solidFill>
                <a:hlinkClick r:id="rId3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I explain this →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94360" y="6528816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792A9"/>
                </a:solidFill>
              </a:rPr>
              <a:t>Customer Engagement Analysis • Portfolio Case Study • 7/8</a:t>
            </a:r>
            <a:endParaRPr lang="en-US" sz="680" dirty="0"/>
          </a:p>
        </p:txBody>
      </p:sp>
      <p:sp>
        <p:nvSpPr>
          <p:cNvPr id="15" name="Text 12"/>
          <p:cNvSpPr/>
          <p:nvPr/>
        </p:nvSpPr>
        <p:spPr>
          <a:xfrm>
            <a:off x="7863840" y="6528816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7792A9"/>
                </a:solidFill>
              </a:rPr>
              <a:t>Interactive PPT: use section buttons in Slide Show mode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Portfolio Skills Demonstrated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B5C8"/>
                </a:solidFill>
              </a:rPr>
              <a:t>Use this slide as your interview talking track.</a:t>
            </a:r>
            <a:endParaRPr lang="en-US" sz="950" dirty="0"/>
          </a:p>
        </p:txBody>
      </p:sp>
      <p:sp>
        <p:nvSpPr>
          <p:cNvPr id="4" name="Text 2">
            <a:hlinkClick r:id="rId1" tooltip="Back to menu" action="ppaction://hlinksldjump"/>
          </p:cNvPr>
          <p:cNvSpPr/>
          <p:nvPr/>
        </p:nvSpPr>
        <p:spPr>
          <a:xfrm>
            <a:off x="10561320" y="347472"/>
            <a:ext cx="960120" cy="292608"/>
          </a:xfrm>
          <a:prstGeom prst="rect">
            <a:avLst/>
          </a:prstGeom>
          <a:solidFill>
            <a:srgbClr val="114567">
              <a:alpha val="92000"/>
            </a:srgbClr>
          </a:solidFill>
          <a:ln>
            <a:solidFill>
              <a:srgbClr val="2F7795">
                <a:alpha val="8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F8FAFC"/>
                </a:solidFill>
                <a:hlinkClick r:id="rId1" action="ppaction://hlinksldjump" tooltip="Back to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" y="12344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D6C9"/>
                </a:solidFill>
              </a:rPr>
              <a:t>What this project proves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3063240" cy="822960"/>
          </a:xfrm>
          <a:prstGeom prst="rect">
            <a:avLst/>
          </a:prstGeom>
          <a:solidFill>
            <a:srgbClr val="0F2E49"/>
          </a:solidFill>
          <a:ln>
            <a:solidFill>
              <a:srgbClr val="2B6F8F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Excel analytics
</a:t>
            </a:r>
            <a:pPr indent="0" marL="0">
              <a:buNone/>
            </a:pPr>
            <a:r>
              <a:rPr lang="en-US" sz="880" dirty="0">
                <a:solidFill>
                  <a:srgbClr val="A7B5C8"/>
                </a:solidFill>
              </a:rPr>
              <a:t>COUNT, AVERAGE, STDEV.S, VAR.S, confidence intervals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34840" y="1783080"/>
            <a:ext cx="3063240" cy="822960"/>
          </a:xfrm>
          <a:prstGeom prst="rect">
            <a:avLst/>
          </a:prstGeom>
          <a:solidFill>
            <a:srgbClr val="0F2E49"/>
          </a:solidFill>
          <a:ln>
            <a:solidFill>
              <a:srgbClr val="2B6F8F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Statistical thinking
</a:t>
            </a:r>
            <a:pPr indent="0" marL="0">
              <a:buNone/>
            </a:pPr>
            <a:r>
              <a:rPr lang="en-US" sz="880" dirty="0">
                <a:solidFill>
                  <a:srgbClr val="A7B5C8"/>
                </a:solidFill>
              </a:rPr>
              <a:t>skewness, kurtosis, unequal variances, t-tests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3063240" cy="822960"/>
          </a:xfrm>
          <a:prstGeom prst="rect">
            <a:avLst/>
          </a:prstGeom>
          <a:solidFill>
            <a:srgbClr val="0F2E49"/>
          </a:solidFill>
          <a:ln>
            <a:solidFill>
              <a:srgbClr val="2B6F8F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Business interpretation
</a:t>
            </a:r>
            <a:pPr indent="0" marL="0">
              <a:buNone/>
            </a:pPr>
            <a:r>
              <a:rPr lang="en-US" sz="880" dirty="0">
                <a:solidFill>
                  <a:srgbClr val="A7B5C8"/>
                </a:solidFill>
              </a:rPr>
              <a:t>translated formulas into product decisions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34840" y="3017520"/>
            <a:ext cx="3063240" cy="822960"/>
          </a:xfrm>
          <a:prstGeom prst="rect">
            <a:avLst/>
          </a:prstGeom>
          <a:solidFill>
            <a:srgbClr val="0F2E49"/>
          </a:solidFill>
          <a:ln>
            <a:solidFill>
              <a:srgbClr val="2B6F8F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Consulting mindset
</a:t>
            </a:r>
            <a:pPr indent="0" marL="0">
              <a:buNone/>
            </a:pPr>
            <a:r>
              <a:rPr lang="en-US" sz="880" dirty="0">
                <a:solidFill>
                  <a:srgbClr val="A7B5C8"/>
                </a:solidFill>
              </a:rPr>
              <a:t>identified segment-level risk and next steps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92440" y="12344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</a:rPr>
              <a:t>Simple interview script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92440" y="1691640"/>
            <a:ext cx="32461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“I analyzed customer engagement by cohort, tested whether 2022 usage improved, and found that paid subscribers increased significantly while free-plan users declined. My recommendation was to segment the product decision instead of claiming an overall engagement win.”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617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D6C9"/>
                </a:solidFill>
              </a:rPr>
              <a:t>Use as portfolio attachment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" y="5001768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7B5C8"/>
                </a:solidFill>
              </a:rPr>
              <a:t>Attach this deck together with the Word case study. In applications, describe it as a customer engagement analytics project built in Excel.</a:t>
            </a:r>
            <a:endParaRPr lang="en-US" sz="1250" dirty="0"/>
          </a:p>
        </p:txBody>
      </p:sp>
      <p:sp>
        <p:nvSpPr>
          <p:cNvPr id="14" name="Text 12">
            <a:hlinkClick r:id="rId2" tooltip="Go to slide 2" action="ppaction://hlinksldjump"/>
          </p:cNvPr>
          <p:cNvSpPr/>
          <p:nvPr/>
        </p:nvSpPr>
        <p:spPr>
          <a:xfrm>
            <a:off x="8229600" y="5138928"/>
            <a:ext cx="1280160" cy="347472"/>
          </a:xfrm>
          <a:prstGeom prst="rect">
            <a:avLst/>
          </a:prstGeom>
          <a:solidFill>
            <a:srgbClr val="19D6C9"/>
          </a:solidFill>
          <a:ln>
            <a:solidFill>
              <a:srgbClr val="19D6C9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u="sng" dirty="0">
                <a:solidFill>
                  <a:srgbClr val="071A2C"/>
                </a:solidFill>
                <a:hlinkClick r:id="rId2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menu</a:t>
            </a:r>
            <a:endParaRPr lang="en-US" sz="950" dirty="0"/>
          </a:p>
        </p:txBody>
      </p:sp>
      <p:sp>
        <p:nvSpPr>
          <p:cNvPr id="15" name="Text 13">
            <a:hlinkClick r:id="rId3" tooltip="Go to slide 1" action="ppaction://hlinksldjump"/>
          </p:cNvPr>
          <p:cNvSpPr/>
          <p:nvPr/>
        </p:nvSpPr>
        <p:spPr>
          <a:xfrm>
            <a:off x="9738360" y="5138928"/>
            <a:ext cx="914400" cy="347472"/>
          </a:xfrm>
          <a:prstGeom prst="rect">
            <a:avLst/>
          </a:prstGeom>
          <a:solidFill>
            <a:srgbClr val="60A5FA"/>
          </a:solidFill>
          <a:ln>
            <a:solidFill>
              <a:srgbClr val="60A5FA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u="sng" dirty="0">
                <a:solidFill>
                  <a:srgbClr val="071A2C"/>
                </a:solidFill>
                <a:hlinkClick r:id="rId3" action="ppaction://hlinksldjump" tooltip="Go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Restart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6528816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792A9"/>
                </a:solidFill>
              </a:rPr>
              <a:t>Customer Engagement Analysis • Portfolio Case Study • 8/8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7863840" y="6528816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7792A9"/>
                </a:solidFill>
              </a:rPr>
              <a:t>Interactive PPT: use section buttons in Slide Show mode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Portfolio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Engagement Analysis Portfolio</dc:title>
  <dc:subject>Customer Engagement Analysis Portfolio</dc:subject>
  <dc:creator>Jayson Sugpatan</dc:creator>
  <cp:lastModifiedBy>Jayson Sugpatan</cp:lastModifiedBy>
  <cp:revision>1</cp:revision>
  <dcterms:created xsi:type="dcterms:W3CDTF">2026-08-18T06:03:27Z</dcterms:created>
  <dcterms:modified xsi:type="dcterms:W3CDTF">2026-08-18T06:03:27Z</dcterms:modified>
</cp:coreProperties>
</file>