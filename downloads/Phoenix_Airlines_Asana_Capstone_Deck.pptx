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23a5862066425c" /><Relationship Type="http://schemas.openxmlformats.org/officeDocument/2006/relationships/extended-properties" Target="/docProps/app.xml" Id="R75ba7d87b5034ea7" /><Relationship Type="http://schemas.openxmlformats.org/officeDocument/2006/relationships/officeDocument" Target="/ppt/presentation.xml" Id="R098131ce894745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7fffc8e1e24b49"/>
  </p:sldMasterIdLst>
  <p:notesMasterIdLst>
    <p:notesMasterId xmlns:r="http://schemas.openxmlformats.org/officeDocument/2006/relationships" r:id="R2c0744fd632e4a7e"/>
  </p:notesMasterIdLst>
  <p:sldIdLst>
    <p:sldId xmlns:r="http://schemas.openxmlformats.org/officeDocument/2006/relationships" id="256" r:id="R5f76e088670948af"/>
    <p:sldId xmlns:r="http://schemas.openxmlformats.org/officeDocument/2006/relationships" id="257" r:id="Refc574c397a9441a"/>
    <p:sldId xmlns:r="http://schemas.openxmlformats.org/officeDocument/2006/relationships" id="258" r:id="R1c05461ac75f49bf"/>
    <p:sldId xmlns:r="http://schemas.openxmlformats.org/officeDocument/2006/relationships" id="259" r:id="R25bd9127db894e62"/>
    <p:sldId xmlns:r="http://schemas.openxmlformats.org/officeDocument/2006/relationships" id="260" r:id="R191364cae16e4f0f"/>
    <p:sldId xmlns:r="http://schemas.openxmlformats.org/officeDocument/2006/relationships" id="261" r:id="R43a592b9457c4950"/>
    <p:sldId xmlns:r="http://schemas.openxmlformats.org/officeDocument/2006/relationships" id="262" r:id="Rf5f3173fa0c641be"/>
    <p:sldId xmlns:r="http://schemas.openxmlformats.org/officeDocument/2006/relationships" id="263" r:id="R2d11ca183aa94961"/>
    <p:sldId xmlns:r="http://schemas.openxmlformats.org/officeDocument/2006/relationships" id="264" r:id="Rf0b939a28baf43dc"/>
    <p:sldId xmlns:r="http://schemas.openxmlformats.org/officeDocument/2006/relationships" id="265" r:id="R8c046ae5e7e24e9a"/>
    <p:sldId xmlns:r="http://schemas.openxmlformats.org/officeDocument/2006/relationships" id="266" r:id="Rcbe699a1d03c4fad"/>
    <p:sldId xmlns:r="http://schemas.openxmlformats.org/officeDocument/2006/relationships" id="267" r:id="Red11c8f07645401a"/>
    <p:sldId xmlns:r="http://schemas.openxmlformats.org/officeDocument/2006/relationships" id="268" r:id="R5de3586e2a2b46fb"/>
    <p:sldId xmlns:r="http://schemas.openxmlformats.org/officeDocument/2006/relationships" id="269" r:id="Rbb2e2f78b2a14d71"/>
    <p:sldId xmlns:r="http://schemas.openxmlformats.org/officeDocument/2006/relationships" id="270" r:id="R8b432effdcee47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e696165eee4548" /><Relationship Type="http://schemas.openxmlformats.org/officeDocument/2006/relationships/slideMaster" Target="/ppt/slideMasters/slideMaster1.xml" Id="R517fffc8e1e24b49" /><Relationship Type="http://schemas.openxmlformats.org/officeDocument/2006/relationships/notesMaster" Target="/ppt/notesMasters/notesMaster1.xml" Id="R2c0744fd632e4a7e" /><Relationship Type="http://schemas.openxmlformats.org/officeDocument/2006/relationships/presProps" Target="/ppt/presProps.xml" Id="R66dbffaab3a64517" /><Relationship Type="http://schemas.openxmlformats.org/officeDocument/2006/relationships/tableStyles" Target="/ppt/tableStyles.xml" Id="R1a463db2aef742af" /><Relationship Type="http://schemas.openxmlformats.org/officeDocument/2006/relationships/slide" Target="/ppt/slides/slide1.xml" Id="R5f76e088670948af" /><Relationship Type="http://schemas.openxmlformats.org/officeDocument/2006/relationships/slide" Target="/ppt/slides/slide2.xml" Id="Refc574c397a9441a" /><Relationship Type="http://schemas.openxmlformats.org/officeDocument/2006/relationships/slide" Target="/ppt/slides/slide3.xml" Id="R1c05461ac75f49bf" /><Relationship Type="http://schemas.openxmlformats.org/officeDocument/2006/relationships/slide" Target="/ppt/slides/slide4.xml" Id="R25bd9127db894e62" /><Relationship Type="http://schemas.openxmlformats.org/officeDocument/2006/relationships/slide" Target="/ppt/slides/slide5.xml" Id="R191364cae16e4f0f" /><Relationship Type="http://schemas.openxmlformats.org/officeDocument/2006/relationships/slide" Target="/ppt/slides/slide6.xml" Id="R43a592b9457c4950" /><Relationship Type="http://schemas.openxmlformats.org/officeDocument/2006/relationships/slide" Target="/ppt/slides/slide7.xml" Id="Rf5f3173fa0c641be" /><Relationship Type="http://schemas.openxmlformats.org/officeDocument/2006/relationships/slide" Target="/ppt/slides/slide8.xml" Id="R2d11ca183aa94961" /><Relationship Type="http://schemas.openxmlformats.org/officeDocument/2006/relationships/slide" Target="/ppt/slides/slide9.xml" Id="Rf0b939a28baf43dc" /><Relationship Type="http://schemas.openxmlformats.org/officeDocument/2006/relationships/slide" Target="/ppt/slides/slide10.xml" Id="R8c046ae5e7e24e9a" /><Relationship Type="http://schemas.openxmlformats.org/officeDocument/2006/relationships/slide" Target="/ppt/slides/slide11.xml" Id="Rcbe699a1d03c4fad" /><Relationship Type="http://schemas.openxmlformats.org/officeDocument/2006/relationships/slide" Target="/ppt/slides/slide12.xml" Id="Red11c8f07645401a" /><Relationship Type="http://schemas.openxmlformats.org/officeDocument/2006/relationships/slide" Target="/ppt/slides/slide13.xml" Id="R5de3586e2a2b46fb" /><Relationship Type="http://schemas.openxmlformats.org/officeDocument/2006/relationships/slide" Target="/ppt/slides/slide14.xml" Id="Rbb2e2f78b2a14d71" /><Relationship Type="http://schemas.openxmlformats.org/officeDocument/2006/relationships/slide" Target="/ppt/slides/slide15.xml" Id="R8b432effdcee47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50ba687dcc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faaec0c024f5a" /><Relationship Type="http://schemas.openxmlformats.org/officeDocument/2006/relationships/notesMaster" Target="/ppt/notesMasters/notesMaster1.xml" Id="R2382527742fe41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8e668fdd546cb" /><Relationship Type="http://schemas.openxmlformats.org/officeDocument/2006/relationships/notesMaster" Target="/ppt/notesMasters/notesMaster1.xml" Id="R4e52fc92585c44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e06c7fd7b44479" /><Relationship Type="http://schemas.openxmlformats.org/officeDocument/2006/relationships/notesMaster" Target="/ppt/notesMasters/notesMaster1.xml" Id="Rf0a55127db0e48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1006b6b39a443d" /><Relationship Type="http://schemas.openxmlformats.org/officeDocument/2006/relationships/notesMaster" Target="/ppt/notesMasters/notesMaster1.xml" Id="R186d231641be43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0cfb953de149d4" /><Relationship Type="http://schemas.openxmlformats.org/officeDocument/2006/relationships/notesMaster" Target="/ppt/notesMasters/notesMaster1.xml" Id="Rf2d573b1f6d041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db14502508463e" /><Relationship Type="http://schemas.openxmlformats.org/officeDocument/2006/relationships/notesMaster" Target="/ppt/notesMasters/notesMaster1.xml" Id="R5a007f32a005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72e19829e94e6d" /><Relationship Type="http://schemas.openxmlformats.org/officeDocument/2006/relationships/notesMaster" Target="/ppt/notesMasters/notesMaster1.xml" Id="R721590bc833640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92d5306d7e4799" /><Relationship Type="http://schemas.openxmlformats.org/officeDocument/2006/relationships/notesMaster" Target="/ppt/notesMasters/notesMaster1.xml" Id="R4bd9841f355742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7d29d5b1914c1d" /><Relationship Type="http://schemas.openxmlformats.org/officeDocument/2006/relationships/notesMaster" Target="/ppt/notesMasters/notesMaster1.xml" Id="Rd75baec3b44d4e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03694cee6d482d" /><Relationship Type="http://schemas.openxmlformats.org/officeDocument/2006/relationships/notesMaster" Target="/ppt/notesMasters/notesMaster1.xml" Id="R25be1a40e8154f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ba45303d2744ab" /><Relationship Type="http://schemas.openxmlformats.org/officeDocument/2006/relationships/notesMaster" Target="/ppt/notesMasters/notesMaster1.xml" Id="R66d17a72e8f943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8c751b7963490a" /><Relationship Type="http://schemas.openxmlformats.org/officeDocument/2006/relationships/notesMaster" Target="/ppt/notesMasters/notesMaster1.xml" Id="Radd02c19fbbb4a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cb7e28a3d44d59" /><Relationship Type="http://schemas.openxmlformats.org/officeDocument/2006/relationships/notesMaster" Target="/ppt/notesMasters/notesMaster1.xml" Id="Ra56b7c0d2d1b47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ff7f55236d4383" /><Relationship Type="http://schemas.openxmlformats.org/officeDocument/2006/relationships/notesMaster" Target="/ppt/notesMasters/notesMaster1.xml" Id="Rae01b2f3761b41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100cf91a524a0a" /><Relationship Type="http://schemas.openxmlformats.org/officeDocument/2006/relationships/notesMaster" Target="/ppt/notesMasters/notesMaster1.xml" Id="Rde808cb61aed41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operating problem and explain that all results shown are design outputs or proposed targets, not claimed production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 Airlines discovery_asana.docx (user-supplied)</a:t>
            </a:r>
          </a:p>
          <a:p xmlns:a="http://schemas.openxmlformats.org/drawingml/2006/main">
            <a:r>
              <a:t>- Biometric Boarding and Security Project.xlsx (user-supplied)</a:t>
            </a:r>
          </a:p>
          <a:p xmlns:a="http://schemas.openxmlformats.org/drawingml/2006/main">
            <a:r>
              <a:t>- Process Map_ Project request process.png (user-supplied)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 Airlines discovery_asana.docx (user-supplied)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 Airlines discovery_asana.docx (user-supplied)</a:t>
            </a:r>
          </a:p>
          <a:p xmlns:a="http://schemas.openxmlformats.org/drawingml/2006/main">
            <a:r>
              <a:t>- https://help.asana.com/s/article/monitor-initiatives-and-manage-resources-with-portfolios</a:t>
            </a:r>
          </a:p>
          <a:p xmlns:a="http://schemas.openxmlformats.org/drawingml/2006/main">
            <a:r>
              <a:t>- https://help.asana.com/s/article/plan-and-manage-company-goals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 Airlines discovery_asana.docx (user-supplied)</a:t>
            </a:r>
          </a:p>
          <a:p xmlns:a="http://schemas.openxmlformats.org/drawingml/2006/main">
            <a:r>
              <a:t>- https://help.asana.com/s/article/task-dependencies</a:t>
            </a:r>
          </a:p>
          <a:p xmlns:a="http://schemas.openxmlformats.org/drawingml/2006/main">
            <a:r>
              <a:t>- https://help.asana.com/s/article/project-intake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describe the designed work plan, not completed business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Biometric Boarding and Security Project.xlsx (user-supplied)</a:t>
            </a:r>
          </a:p>
          <a:p xmlns:a="http://schemas.openxmlformats.org/drawingml/2006/main">
            <a:r>
              <a:t>- Phoenix_Airlines_Asana_Capstone_Workbook.xlsx (companion artifact)</a:t>
            </a:r>
          </a:p>
          <a:p xmlns:a="http://schemas.openxmlformats.org/drawingml/2006/main">
            <a:r>
              <a:t>- https://help.asana.com/s/article/import-csv-spreadsheets-into-projects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Biometric Boarding and Security Project.xlsx (user-supplied)</a:t>
            </a:r>
          </a:p>
          <a:p xmlns:a="http://schemas.openxmlformats.org/drawingml/2006/main">
            <a:r>
              <a:t>- Phoenix_Airlines_Asana_Capstone_Workbook.xlsx (companion artifact)</a:t>
            </a:r>
          </a:p>
          <a:p xmlns:a="http://schemas.openxmlformats.org/drawingml/2006/main">
            <a:r>
              <a:t>- https://help.asana.com/s/article/task-dependencies</a:t>
            </a:r>
          </a:p>
          <a:p xmlns:a="http://schemas.openxmlformats.org/drawingml/2006/main">
            <a:r>
              <a:t>- https://help.asana.com/s/article/plan-and-execute-projects-with-timeline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On Hold—Capacity is a recommended improvement: a goal-aligned request without an available PM should remain visible instead of being lost as a rejection.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Process Map_ Project request process.png (user-supplied)</a:t>
            </a:r>
          </a:p>
          <a:p xmlns:a="http://schemas.openxmlformats.org/drawingml/2006/main">
            <a:r>
              <a:t>- Phoenix Airlines discovery_asana.docx (user-supplied)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 Airlines discovery_asana.docx (user-supplied)</a:t>
            </a:r>
          </a:p>
          <a:p xmlns:a="http://schemas.openxmlformats.org/drawingml/2006/main">
            <a:r>
              <a:t>- https://help.asana.com/s/article/project-intake</a:t>
            </a:r>
          </a:p>
          <a:p xmlns:a="http://schemas.openxmlformats.org/drawingml/2006/main">
            <a:r>
              <a:t>- https://help.asana.com/s/article/field-mapping-in-forms</a:t>
            </a:r>
          </a:p>
          <a:p xmlns:a="http://schemas.openxmlformats.org/drawingml/2006/main">
            <a:r>
              <a:t>- https://help.asana.com/s/article/how-to-use-forms-branching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Phoenix_Airlines_Asana_Capstone_Workbook.xlsx (companion artifact)</a:t>
            </a:r>
          </a:p>
          <a:p xmlns:a="http://schemas.openxmlformats.org/drawingml/2006/main">
            <a:r>
              <a:t>- https://help.asana.com/s/article/rule-triggers</a:t>
            </a:r>
          </a:p>
          <a:p xmlns:a="http://schemas.openxmlformats.org/drawingml/2006/main">
            <a:r>
              <a:t>- https://help.asana.com/s/article/rule-actions</a:t>
            </a:r>
          </a:p>
          <a:p xmlns:a="http://schemas.openxmlformats.org/drawingml/2006/main">
            <a:r>
              <a:t>- https://help.asana.com/s/article/automate-how-work-moves-through-stages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 Airlines discovery_asana.docx (user-supplied)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 Airlines discovery_asana.docx (user-supplied)</a:t>
            </a:r>
          </a:p>
          <a:p xmlns:a="http://schemas.openxmlformats.org/drawingml/2006/main">
            <a:r>
              <a:t>- Phoenix_Airlines_Asana_Capstone_Workbook.xlsx (companion artifact)</a:t>
            </a:r>
          </a:p>
          <a:p xmlns:a="http://schemas.openxmlformats.org/drawingml/2006/main">
            <a:r>
              <a:t>- https://help.asana.com/s/article/deploy-analyze-your-workflow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design targets, not achieved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Phoenix_Airlines_Asana_Capstone_Workbook.xlsx (companion artifact)</a:t>
            </a:r>
          </a:p>
          <a:p xmlns:a="http://schemas.openxmlformats.org/drawingml/2006/main">
            <a:r>
              <a:t>- https://help.asana.com/s/article/project-dashboards</a:t>
            </a:r>
          </a:p>
          <a:p xmlns:a="http://schemas.openxmlformats.org/drawingml/2006/main">
            <a:r>
              <a:t>- https://help.asana.com/s/article/portfolio-progress-and-reporting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Phoenix_Airlines_Asana_Capstone_Workbook.xlsx (companion artifact)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 Airlines discovery_asana.docx (user-supplied learning objectives)</a:t>
            </a:r>
          </a:p>
          <a:p xmlns:a="http://schemas.openxmlformats.org/drawingml/2006/main">
            <a:r>
              <a:t>- https://help.asana.com/s/article/deploy-analyze-your-workflow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Phoenix_Airlines_Asana_Capstone_Portfolio.docx (companion artifact)</a:t>
            </a:r>
          </a:p>
          <a:p xmlns:a="http://schemas.openxmlformats.org/drawingml/2006/main">
            <a:r>
              <a:t>- Phoenix_Airlines_Asana_Capstone_Workbook.xlsx (companion artifact)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2c0cb2a2643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f23c259d3544a4" /><Relationship Type="http://schemas.openxmlformats.org/officeDocument/2006/relationships/slideLayout" Target="/ppt/slideLayouts/slideLayout1.xml" Id="R6c41d9dd18b446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41d9dd18b446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91757ec484423" /><Relationship Type="http://schemas.openxmlformats.org/officeDocument/2006/relationships/notesSlide" Target="/ppt/notesSlides/notesSlide1.xml" Id="R1a7ac1c5d9ad47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143e2bd35447c" /><Relationship Type="http://schemas.openxmlformats.org/officeDocument/2006/relationships/notesSlide" Target="/ppt/notesSlides/notesSlide2.xml" Id="R737225b623ed4d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3d85009d24d83" /><Relationship Type="http://schemas.openxmlformats.org/officeDocument/2006/relationships/notesSlide" Target="/ppt/notesSlides/notesSlide3.xml" Id="R6396993accc044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1c42e8ec344b9" /><Relationship Type="http://schemas.openxmlformats.org/officeDocument/2006/relationships/notesSlide" Target="/ppt/notesSlides/notesSlide4.xml" Id="R09c5af6c9d7f47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4555838204f4e" /><Relationship Type="http://schemas.openxmlformats.org/officeDocument/2006/relationships/notesSlide" Target="/ppt/notesSlides/notesSlide5.xml" Id="R2e17767f92a14c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2450e4c904490" /><Relationship Type="http://schemas.openxmlformats.org/officeDocument/2006/relationships/notesSlide" Target="/ppt/notesSlides/notesSlide6.xml" Id="Rfdc08d7b6bc74d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514b7d2864dc4" /><Relationship Type="http://schemas.openxmlformats.org/officeDocument/2006/relationships/image" Target="/ppt/media/image.png" Id="R771ba765fecb454a" /><Relationship Type="http://schemas.openxmlformats.org/officeDocument/2006/relationships/notesSlide" Target="/ppt/notesSlides/notesSlide7.xml" Id="R194ab434fe0547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e6cfd3e344e08" /><Relationship Type="http://schemas.openxmlformats.org/officeDocument/2006/relationships/notesSlide" Target="/ppt/notesSlides/notesSlide8.xml" Id="Rb256d87ee3254a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7ba66ccc94ffd" /><Relationship Type="http://schemas.openxmlformats.org/officeDocument/2006/relationships/notesSlide" Target="/ppt/notesSlides/notesSlide9.xml" Id="R1f8210168a7446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9b0f6a5304f7b" /><Relationship Type="http://schemas.openxmlformats.org/officeDocument/2006/relationships/notesSlide" Target="/ppt/notesSlides/notesSlide10.xml" Id="Rc8d5119185ab4f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c4ee9b9934dbe" /><Relationship Type="http://schemas.openxmlformats.org/officeDocument/2006/relationships/notesSlide" Target="/ppt/notesSlides/notesSlide11.xml" Id="R1e247565dc3d40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1a377573741c1" /><Relationship Type="http://schemas.openxmlformats.org/officeDocument/2006/relationships/notesSlide" Target="/ppt/notesSlides/notesSlide12.xml" Id="Rce3b4be3dee848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4785c0e4d4309" /><Relationship Type="http://schemas.openxmlformats.org/officeDocument/2006/relationships/notesSlide" Target="/ppt/notesSlides/notesSlide13.xml" Id="R3c06a6b2ef7b44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60da617804a4b" /><Relationship Type="http://schemas.openxmlformats.org/officeDocument/2006/relationships/notesSlide" Target="/ppt/notesSlides/notesSlide14.xml" Id="R23dca2a9f86345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94091a9fe4b54" /><Relationship Type="http://schemas.openxmlformats.org/officeDocument/2006/relationships/notesSlide" Target="/ppt/notesSlides/notesSlide15.xml" Id="R14ed1a5f237c42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5560A8F-CDC7-4A9C-8AAF-1EC8F304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ASANA WORKFLOW SPECIALIST CAPSTONE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12F1EEE-4AC4-46F5-8D51-CE123546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Phoenix Airlines: governed request-to-delivery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9533590-1AC2-46E4-801B-99CC3C2C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Two connected workflows make intake, decisions, delivery, and adoption visible.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09CC40EA-EAD6-46F9-96BF-2C4E3229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Portfolio case study  •  Jayson  •  25 August 2026</a:t>
            </a:r>
          </a:p>
        </p:txBody>
      </p:sp>
      <p:sp>
        <p:nvSpPr>
          <p:cNvPr id="5" name="cover-hero-panel">
            <a:extLst xmlns:a="http://schemas.openxmlformats.org/drawingml/2006/main">
              <a:ext uri="{FF2B5EF4-FFF2-40B4-BE49-F238E27FC236}">
                <a16:creationId xmlns:a16="http://schemas.microsoft.com/office/drawing/2014/main" id="{F457D545-BB4E-499F-9AD9-0AB072F0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5524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ver-01">
            <a:extLst xmlns:a="http://schemas.openxmlformats.org/drawingml/2006/main">
              <a:ext uri="{FF2B5EF4-FFF2-40B4-BE49-F238E27FC236}">
                <a16:creationId xmlns:a16="http://schemas.microsoft.com/office/drawing/2014/main" id="{1845C58E-EC35-4AE5-BD91-5CD941C6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cover-01-label">
            <a:extLst xmlns:a="http://schemas.openxmlformats.org/drawingml/2006/main">
              <a:ext uri="{FF2B5EF4-FFF2-40B4-BE49-F238E27FC236}">
                <a16:creationId xmlns:a16="http://schemas.microsoft.com/office/drawing/2014/main" id="{2C1C2AA3-49BF-48A0-8747-EFD3D37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Deadline-bound launch</a:t>
            </a:r>
          </a:p>
        </p:txBody>
      </p:sp>
      <p:cxnSp>
        <p:nvCxnSpPr>
          <p:cNvPr id="22" name="cover-line-1"/>
          <p:cNvCxnSpPr/>
          <p:nvPr/>
        </p:nvCxnSpPr>
        <p:spPr>
          <a:xfrm xmlns:a="http://schemas.openxmlformats.org/drawingml/2006/main">
            <a:off x="6667500" y="31432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cover-02">
            <a:extLst xmlns:a="http://schemas.openxmlformats.org/drawingml/2006/main">
              <a:ext uri="{FF2B5EF4-FFF2-40B4-BE49-F238E27FC236}">
                <a16:creationId xmlns:a16="http://schemas.microsoft.com/office/drawing/2014/main" id="{990006CA-AFCF-4EC5-BC69-550EA8E8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cover-02-label">
            <a:extLst xmlns:a="http://schemas.openxmlformats.org/drawingml/2006/main">
              <a:ext uri="{FF2B5EF4-FFF2-40B4-BE49-F238E27FC236}">
                <a16:creationId xmlns:a16="http://schemas.microsoft.com/office/drawing/2014/main" id="{4E516F21-8CEB-48C6-A4ED-82CB59A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671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Ongoing request workflow</a:t>
            </a:r>
          </a:p>
        </p:txBody>
      </p:sp>
      <p:cxnSp>
        <p:nvCxnSpPr>
          <p:cNvPr id="25" name="cover-line-2"/>
          <p:cNvCxnSpPr/>
          <p:nvPr/>
        </p:nvCxnSpPr>
        <p:spPr>
          <a:xfrm xmlns:a="http://schemas.openxmlformats.org/drawingml/2006/main">
            <a:off x="6667500" y="42291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cover-03">
            <a:extLst xmlns:a="http://schemas.openxmlformats.org/drawingml/2006/main">
              <a:ext uri="{FF2B5EF4-FFF2-40B4-BE49-F238E27FC236}">
                <a16:creationId xmlns:a16="http://schemas.microsoft.com/office/drawing/2014/main" id="{6B3E1A14-5AC3-4FA5-BA30-00E52667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7B61A8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7B61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over-03-label">
            <a:extLst xmlns:a="http://schemas.openxmlformats.org/drawingml/2006/main">
              <a:ext uri="{FF2B5EF4-FFF2-40B4-BE49-F238E27FC236}">
                <a16:creationId xmlns:a16="http://schemas.microsoft.com/office/drawing/2014/main" id="{140BE283-682D-4323-A099-BBAB6385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Deployment and proof</a:t>
            </a:r>
          </a:p>
        </p:txBody>
      </p:sp>
      <p:sp>
        <p:nvSpPr>
          <p:cNvPr id="14" name="cover-page">
            <a:extLst xmlns:a="http://schemas.openxmlformats.org/drawingml/2006/main">
              <a:ext uri="{FF2B5EF4-FFF2-40B4-BE49-F238E27FC236}">
                <a16:creationId xmlns:a16="http://schemas.microsoft.com/office/drawing/2014/main" id="{B9AF0C3F-909B-4510-B2A7-F1C338FA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5515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2">
            <a:extLst xmlns:a="http://schemas.openxmlformats.org/drawingml/2006/main">
              <a:ext uri="{FF2B5EF4-FFF2-40B4-BE49-F238E27FC236}">
                <a16:creationId xmlns:a16="http://schemas.microsoft.com/office/drawing/2014/main" id="{8CCF725E-3FBE-418C-A23B-342EC7AB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DISCOVERY  /  CURRENT STATE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328082C-0607-4A4A-8961-81393967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problem is broken visibility—not a lack of tools</a:t>
            </a:r>
          </a:p>
        </p:txBody>
      </p:sp>
      <p:cxnSp>
        <p:nvCxnSpPr>
          <p:cNvPr id="20" name="title-rule-2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391D68E1-702E-4DBB-A217-2B02A96C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5B4DB1BC-6808-41E9-90D1-0FCF7E27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22510DE7-EB67-4E33-9F2F-B194A11C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Work arrives through several channels, then loses a reliable owner, decision trail, or portfolio view.</a:t>
            </a:r>
          </a:p>
        </p:txBody>
      </p:sp>
      <p:sp>
        <p:nvSpPr>
          <p:cNvPr id="7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ADA7CF14-E389-445F-8719-AD071855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561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Teams, Outlook, Jira, and Excel remain useful. The gap is a shared coordination layer that records who owns the next action, when it is due, and how it contributes to the customer-experience objective.</a:t>
            </a:r>
          </a:p>
        </p:txBody>
      </p:sp>
      <p:sp>
        <p:nvSpPr>
          <p:cNvPr id="8" name="check-260-0">
            <a:extLst xmlns:a="http://schemas.openxmlformats.org/drawingml/2006/main">
              <a:ext uri="{FF2B5EF4-FFF2-40B4-BE49-F238E27FC236}">
                <a16:creationId xmlns:a16="http://schemas.microsoft.com/office/drawing/2014/main" id="{0B618780-39DF-4B98-9615-4F363F3E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check-label-260-0">
            <a:extLst xmlns:a="http://schemas.openxmlformats.org/drawingml/2006/main">
              <a:ext uri="{FF2B5EF4-FFF2-40B4-BE49-F238E27FC236}">
                <a16:creationId xmlns:a16="http://schemas.microsoft.com/office/drawing/2014/main" id="{B45BE279-4BC5-4333-BCB2-E323AAD0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Requests are scattered</a:t>
            </a:r>
          </a:p>
        </p:txBody>
      </p:sp>
      <p:sp>
        <p:nvSpPr>
          <p:cNvPr id="10" name="check-260-1">
            <a:extLst xmlns:a="http://schemas.openxmlformats.org/drawingml/2006/main">
              <a:ext uri="{FF2B5EF4-FFF2-40B4-BE49-F238E27FC236}">
                <a16:creationId xmlns:a16="http://schemas.microsoft.com/office/drawing/2014/main" id="{110A8705-3A7F-4952-89E6-F85FDA7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861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check-label-260-1">
            <a:extLst xmlns:a="http://schemas.openxmlformats.org/drawingml/2006/main">
              <a:ext uri="{FF2B5EF4-FFF2-40B4-BE49-F238E27FC236}">
                <a16:creationId xmlns:a16="http://schemas.microsoft.com/office/drawing/2014/main" id="{AD3164E2-9C62-41D7-A3D8-3951FD67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Approvals are hidden</a:t>
            </a:r>
          </a:p>
        </p:txBody>
      </p:sp>
      <p:sp>
        <p:nvSpPr>
          <p:cNvPr id="12" name="check-260-2">
            <a:extLst xmlns:a="http://schemas.openxmlformats.org/drawingml/2006/main">
              <a:ext uri="{FF2B5EF4-FFF2-40B4-BE49-F238E27FC236}">
                <a16:creationId xmlns:a16="http://schemas.microsoft.com/office/drawing/2014/main" id="{FAC88D36-3A9D-4E5A-85C4-68ACA55F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957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check-label-260-2">
            <a:extLst xmlns:a="http://schemas.openxmlformats.org/drawingml/2006/main">
              <a:ext uri="{FF2B5EF4-FFF2-40B4-BE49-F238E27FC236}">
                <a16:creationId xmlns:a16="http://schemas.microsoft.com/office/drawing/2014/main" id="{A9DC9A08-26F5-4A87-9AC3-AC08849C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76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Ownership is inconsistent</a:t>
            </a:r>
          </a:p>
        </p:txBody>
      </p:sp>
      <p:sp>
        <p:nvSpPr>
          <p:cNvPr id="14" name="check-260-3">
            <a:extLst xmlns:a="http://schemas.openxmlformats.org/drawingml/2006/main">
              <a:ext uri="{FF2B5EF4-FFF2-40B4-BE49-F238E27FC236}">
                <a16:creationId xmlns:a16="http://schemas.microsoft.com/office/drawing/2014/main" id="{039CCB3A-3430-47B0-8160-A81CB887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check-label-260-3">
            <a:extLst xmlns:a="http://schemas.openxmlformats.org/drawingml/2006/main">
              <a:ext uri="{FF2B5EF4-FFF2-40B4-BE49-F238E27FC236}">
                <a16:creationId xmlns:a16="http://schemas.microsoft.com/office/drawing/2014/main" id="{C3F0585C-4897-4938-BEF6-6ADF7A2C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862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Delivery health is fragmented</a:t>
            </a:r>
          </a:p>
        </p:txBody>
      </p:sp>
      <p:sp>
        <p:nvSpPr>
          <p:cNvPr id="16" name="check-260-4">
            <a:extLst xmlns:a="http://schemas.openxmlformats.org/drawingml/2006/main">
              <a:ext uri="{FF2B5EF4-FFF2-40B4-BE49-F238E27FC236}">
                <a16:creationId xmlns:a16="http://schemas.microsoft.com/office/drawing/2014/main" id="{6507CB8A-90E2-4A61-9DD0-BF7BA61D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149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check-label-260-4">
            <a:extLst xmlns:a="http://schemas.openxmlformats.org/drawingml/2006/main">
              <a:ext uri="{FF2B5EF4-FFF2-40B4-BE49-F238E27FC236}">
                <a16:creationId xmlns:a16="http://schemas.microsoft.com/office/drawing/2014/main" id="{A16DB95A-D8EF-45E7-9C42-F8A32019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958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Benefits are not connected</a:t>
            </a:r>
          </a:p>
        </p:txBody>
      </p:sp>
    </p:spTree>
    <p:extLst>
      <p:ext uri="{BB962C8B-B14F-4D97-AF65-F5344CB8AC3E}">
        <p14:creationId xmlns:p14="http://schemas.microsoft.com/office/powerpoint/2010/main" val="1204508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3">
            <a:extLst xmlns:a="http://schemas.openxmlformats.org/drawingml/2006/main">
              <a:ext uri="{FF2B5EF4-FFF2-40B4-BE49-F238E27FC236}">
                <a16:creationId xmlns:a16="http://schemas.microsoft.com/office/drawing/2014/main" id="{A9B53F02-6D21-4DBA-B2EB-09FE1C6B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SOLUTION  /  OPERATING MODEL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600CB11-BE4E-4584-9EEA-F5FE4BFB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goal connects intake, delivery, and adoption</a:t>
            </a:r>
          </a:p>
        </p:txBody>
      </p:sp>
      <p:cxnSp>
        <p:nvCxnSpPr>
          <p:cNvPr id="10" name="title-rule-3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35E98F29-8BBD-4FDE-A882-C52BDA84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28BB4BC4-CC1B-45A2-AB90-283D0FA4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rchitecture-intro">
            <a:extLst xmlns:a="http://schemas.openxmlformats.org/drawingml/2006/main">
              <a:ext uri="{FF2B5EF4-FFF2-40B4-BE49-F238E27FC236}">
                <a16:creationId xmlns:a16="http://schemas.microsoft.com/office/drawing/2014/main" id="{9CCBAA5B-8359-49C1-8EC1-18A1AE7A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02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The structure is deliberately small: one strategic connection, one leadership portfolio, and three purpose-built projects.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26695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4000500"/>
                <a:gridCol w="5676900"/>
              </a:tblGrid>
              <a:tr h="603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Asana object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the operating model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Improve customer experience and delivery reliability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Connect accepted initiatives to the business why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Portfolio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Customer Experience Transformation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Compare project health, timing, priority, and ownership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Project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Biometric Boarding &amp; Security Launch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Deliver a time-bound cross-functional launch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Project 2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Project Request &amp; Approval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 ongoing intake and decisions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Project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Asana Adoption &amp; Enablement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Train, launch, support, and improve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734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4">
            <a:extLst xmlns:a="http://schemas.openxmlformats.org/drawingml/2006/main">
              <a:ext uri="{FF2B5EF4-FFF2-40B4-BE49-F238E27FC236}">
                <a16:creationId xmlns:a16="http://schemas.microsoft.com/office/drawing/2014/main" id="{8D5F88BC-491E-4B7E-A529-65E018A2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WORKFLOW DESIGN  /  TYPE SELECTION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34AFDEF-C7E8-4461-AD3B-2147E5DC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Deadline-bound and ongoing work need different patterns</a:t>
            </a:r>
          </a:p>
        </p:txBody>
      </p:sp>
      <p:cxnSp>
        <p:nvCxnSpPr>
          <p:cNvPr id="16" name="title-rule-4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6A731C11-6E10-463A-8215-3209195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3B78FD33-CCE1-41B9-81E3-69D31539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deadline-label">
            <a:extLst xmlns:a="http://schemas.openxmlformats.org/drawingml/2006/main">
              <a:ext uri="{FF2B5EF4-FFF2-40B4-BE49-F238E27FC236}">
                <a16:creationId xmlns:a16="http://schemas.microsoft.com/office/drawing/2014/main" id="{E3BFF690-FDF1-439E-94B0-02B1D4C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DEADLINE-BOUND</a:t>
            </a:r>
          </a:p>
        </p:txBody>
      </p:sp>
      <p:sp>
        <p:nvSpPr>
          <p:cNvPr id="7" name="deadline-title">
            <a:extLst xmlns:a="http://schemas.openxmlformats.org/drawingml/2006/main">
              <a:ext uri="{FF2B5EF4-FFF2-40B4-BE49-F238E27FC236}">
                <a16:creationId xmlns:a16="http://schemas.microsoft.com/office/drawing/2014/main" id="{9BA0BB4A-04B9-4B1B-83BC-8B03441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Biometric launch</a:t>
            </a:r>
          </a:p>
        </p:txBody>
      </p:sp>
      <p:sp>
        <p:nvSpPr>
          <p:cNvPr id="8" name="deadline-body">
            <a:extLst xmlns:a="http://schemas.openxmlformats.org/drawingml/2006/main">
              <a:ext uri="{FF2B5EF4-FFF2-40B4-BE49-F238E27FC236}">
                <a16:creationId xmlns:a16="http://schemas.microsoft.com/office/drawing/2014/main" id="{F052AEFE-A061-4DF2-97B0-426544E2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A defined start and finish. Sections act as phases; milestones mark gates; dependencies protect sequence; Timeline/Gantt exposes schedule risk.</a:t>
            </a:r>
          </a:p>
        </p:txBody>
      </p:sp>
      <p:cxnSp>
        <p:nvCxnSpPr>
          <p:cNvPr id="22" name="workflow-divider"/>
          <p:cNvCxnSpPr/>
          <p:nvPr/>
        </p:nvCxnSpPr>
        <p:spPr>
          <a:xfrm xmlns:a="http://schemas.openxmlformats.org/drawingml/2006/main">
            <a:off x="6096000" y="1676400"/>
            <a:ext cx="0" cy="384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ongoing-label">
            <a:extLst xmlns:a="http://schemas.openxmlformats.org/drawingml/2006/main">
              <a:ext uri="{FF2B5EF4-FFF2-40B4-BE49-F238E27FC236}">
                <a16:creationId xmlns:a16="http://schemas.microsoft.com/office/drawing/2014/main" id="{E156FD3D-55D5-4BC7-84AF-B8A89F58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ONGOING PROCESS</a:t>
            </a:r>
          </a:p>
        </p:txBody>
      </p:sp>
      <p:sp>
        <p:nvSpPr>
          <p:cNvPr id="11" name="ongoing-title">
            <a:extLst xmlns:a="http://schemas.openxmlformats.org/drawingml/2006/main">
              <a:ext uri="{FF2B5EF4-FFF2-40B4-BE49-F238E27FC236}">
                <a16:creationId xmlns:a16="http://schemas.microsoft.com/office/drawing/2014/main" id="{46D1AC1B-87AC-4EB9-A806-DB648580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512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request approval</a:t>
            </a:r>
          </a:p>
        </p:txBody>
      </p:sp>
      <p:sp>
        <p:nvSpPr>
          <p:cNvPr id="12" name="ongoing-body">
            <a:extLst xmlns:a="http://schemas.openxmlformats.org/drawingml/2006/main">
              <a:ext uri="{FF2B5EF4-FFF2-40B4-BE49-F238E27FC236}">
                <a16:creationId xmlns:a16="http://schemas.microsoft.com/office/drawing/2014/main" id="{08814BA2-1662-4E33-A5D6-50BDFDB0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5124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A repeatable flow with no fixed end date. Board sections show stage; a form standardizes intake; rules route work; decisions and SLAs protect accountability.</a:t>
            </a:r>
          </a:p>
        </p:txBody>
      </p:sp>
      <p:sp>
        <p:nvSpPr>
          <p:cNvPr id="13" name="workflow-takeaway">
            <a:extLst xmlns:a="http://schemas.openxmlformats.org/drawingml/2006/main">
              <a:ext uri="{FF2B5EF4-FFF2-40B4-BE49-F238E27FC236}">
                <a16:creationId xmlns:a16="http://schemas.microsoft.com/office/drawing/2014/main" id="{4E5FA9DA-843A-476A-83CB-FB81F985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Asana object is the same—a project—but the operating logic is different.</a:t>
            </a:r>
          </a:p>
        </p:txBody>
      </p:sp>
    </p:spTree>
    <p:extLst>
      <p:ext uri="{BB962C8B-B14F-4D97-AF65-F5344CB8AC3E}">
        <p14:creationId xmlns:p14="http://schemas.microsoft.com/office/powerpoint/2010/main" val="875576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D8742A4D-106D-4096-8E9E-5E677E63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1  /  DEADLINE-BOUND DELIVERY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984E96C-0CA7-402C-8073-6D02B4B4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1 expands the source plan into a launch system</a:t>
            </a:r>
          </a:p>
        </p:txBody>
      </p:sp>
      <p:cxnSp>
        <p:nvCxnSpPr>
          <p:cNvPr id="18" name="title-rule-5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29DBFA79-824E-4C6B-8C91-20E609D5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138AF95B-10D6-45E7-8842-F365A990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p1-lead">
            <a:extLst xmlns:a="http://schemas.openxmlformats.org/drawingml/2006/main">
              <a:ext uri="{FF2B5EF4-FFF2-40B4-BE49-F238E27FC236}">
                <a16:creationId xmlns:a16="http://schemas.microsoft.com/office/drawing/2014/main" id="{583225FA-18BE-46E2-B77E-D205420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81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6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source workbook supplied the delivery backbone. The capstone adds the controls needed for a credible biometric launch.</a:t>
            </a:r>
          </a:p>
        </p:txBody>
      </p:sp>
      <p:sp>
        <p:nvSpPr>
          <p:cNvPr id="7" name="p1-body">
            <a:extLst xmlns:a="http://schemas.openxmlformats.org/drawingml/2006/main">
              <a:ext uri="{FF2B5EF4-FFF2-40B4-BE49-F238E27FC236}">
                <a16:creationId xmlns:a16="http://schemas.microsoft.com/office/drawing/2014/main" id="{42F5C447-6590-4080-96F6-3659EE49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Privacy, security, training, pilot, go-live, hypercare, and benefits tracking are made explicit. Detailed engineering work can remain in Jira while Asana owns the cross-functional commitments and gates.</a:t>
            </a:r>
          </a:p>
        </p:txBody>
      </p:sp>
      <p:sp>
        <p:nvSpPr>
          <p:cNvPr id="8" name="p1-stat-1">
            <a:extLst xmlns:a="http://schemas.openxmlformats.org/drawingml/2006/main">
              <a:ext uri="{FF2B5EF4-FFF2-40B4-BE49-F238E27FC236}">
                <a16:creationId xmlns:a16="http://schemas.microsoft.com/office/drawing/2014/main" id="{6AB2A174-3953-4334-8099-65B8BAC3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9" name="p1-stat-1-label">
            <a:extLst xmlns:a="http://schemas.openxmlformats.org/drawingml/2006/main">
              <a:ext uri="{FF2B5EF4-FFF2-40B4-BE49-F238E27FC236}">
                <a16:creationId xmlns:a16="http://schemas.microsoft.com/office/drawing/2014/main" id="{0F8A8519-A203-47B3-B229-E255068F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items</a:t>
            </a:r>
          </a:p>
        </p:txBody>
      </p:sp>
      <p:sp>
        <p:nvSpPr>
          <p:cNvPr id="10" name="p1-stat-2">
            <a:extLst xmlns:a="http://schemas.openxmlformats.org/drawingml/2006/main">
              <a:ext uri="{FF2B5EF4-FFF2-40B4-BE49-F238E27FC236}">
                <a16:creationId xmlns:a16="http://schemas.microsoft.com/office/drawing/2014/main" id="{ECB5B5B6-74BD-4834-838D-3148A079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7B61A8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7B61A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p1-stat-2-label">
            <a:extLst xmlns:a="http://schemas.openxmlformats.org/drawingml/2006/main">
              <a:ext uri="{FF2B5EF4-FFF2-40B4-BE49-F238E27FC236}">
                <a16:creationId xmlns:a16="http://schemas.microsoft.com/office/drawing/2014/main" id="{B3A5CEE5-08C9-4DA5-9F6B-FED9D4A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milestones</a:t>
            </a:r>
          </a:p>
        </p:txBody>
      </p:sp>
      <p:sp>
        <p:nvSpPr>
          <p:cNvPr id="12" name="p1-stat-3">
            <a:extLst xmlns:a="http://schemas.openxmlformats.org/drawingml/2006/main">
              <a:ext uri="{FF2B5EF4-FFF2-40B4-BE49-F238E27FC236}">
                <a16:creationId xmlns:a16="http://schemas.microsoft.com/office/drawing/2014/main" id="{BA2E7794-F25D-49E0-B396-8638B7E8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3" name="p1-stat-3-label">
            <a:extLst xmlns:a="http://schemas.openxmlformats.org/drawingml/2006/main">
              <a:ext uri="{FF2B5EF4-FFF2-40B4-BE49-F238E27FC236}">
                <a16:creationId xmlns:a16="http://schemas.microsoft.com/office/drawing/2014/main" id="{D6781279-EC2C-4D33-BCD1-7819A0A4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dependency links</a:t>
            </a:r>
          </a:p>
        </p:txBody>
      </p:sp>
      <p:sp>
        <p:nvSpPr>
          <p:cNvPr id="14" name="p1-stat-4">
            <a:extLst xmlns:a="http://schemas.openxmlformats.org/drawingml/2006/main">
              <a:ext uri="{FF2B5EF4-FFF2-40B4-BE49-F238E27FC236}">
                <a16:creationId xmlns:a16="http://schemas.microsoft.com/office/drawing/2014/main" id="{FB8008B2-841A-44B2-8D9F-BEAFD07E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p1-stat-4-label">
            <a:extLst xmlns:a="http://schemas.openxmlformats.org/drawingml/2006/main">
              <a:ext uri="{FF2B5EF4-FFF2-40B4-BE49-F238E27FC236}">
                <a16:creationId xmlns:a16="http://schemas.microsoft.com/office/drawing/2014/main" id="{C818693F-D9FA-4214-A3FB-99487B7F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57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delivery phases</a:t>
            </a:r>
          </a:p>
        </p:txBody>
      </p:sp>
    </p:spTree>
    <p:extLst>
      <p:ext uri="{BB962C8B-B14F-4D97-AF65-F5344CB8AC3E}">
        <p14:creationId xmlns:p14="http://schemas.microsoft.com/office/powerpoint/2010/main" val="1455532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6">
            <a:extLst xmlns:a="http://schemas.openxmlformats.org/drawingml/2006/main">
              <a:ext uri="{FF2B5EF4-FFF2-40B4-BE49-F238E27FC236}">
                <a16:creationId xmlns:a16="http://schemas.microsoft.com/office/drawing/2014/main" id="{C1F85629-FE44-4DBA-9498-334BBCF1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1  /  MILESTONES + DEPENDENCIES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F7E7B71-2F9C-443F-B00C-A34A2249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critical path protects every launch gate</a:t>
            </a:r>
          </a:p>
        </p:txBody>
      </p:sp>
      <p:cxnSp>
        <p:nvCxnSpPr>
          <p:cNvPr id="22" name="title-rule-6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48C39AF1-5B3F-4F4F-919A-3939F5D7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FC65BB88-0E0B-4075-BB29-01A50EE4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p1-timeline-intro">
            <a:extLst xmlns:a="http://schemas.openxmlformats.org/drawingml/2006/main">
              <a:ext uri="{FF2B5EF4-FFF2-40B4-BE49-F238E27FC236}">
                <a16:creationId xmlns:a16="http://schemas.microsoft.com/office/drawing/2014/main" id="{1659F63C-2215-49A8-B99E-37FA75A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The schedule moves through three accountable arcs. Each arc closes with explicit evidence before the next begins.</a:t>
            </a:r>
          </a:p>
        </p:txBody>
      </p:sp>
      <p:cxnSp>
        <p:nvCxnSpPr>
          <p:cNvPr id="26" name="timeline-350"/>
          <p:cNvCxnSpPr/>
          <p:nvPr/>
        </p:nvCxnSpPr>
        <p:spPr>
          <a:xfrm xmlns:a="http://schemas.openxmlformats.org/drawingml/2006/main">
            <a:off x="590550" y="3333750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timeline-dot-350-0">
            <a:extLst xmlns:a="http://schemas.openxmlformats.org/drawingml/2006/main">
              <a:ext uri="{FF2B5EF4-FFF2-40B4-BE49-F238E27FC236}">
                <a16:creationId xmlns:a16="http://schemas.microsoft.com/office/drawing/2014/main" id="{9869E62A-F312-4776-B0FB-24250BE8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350-0">
            <a:extLst xmlns:a="http://schemas.openxmlformats.org/drawingml/2006/main">
              <a:ext uri="{FF2B5EF4-FFF2-40B4-BE49-F238E27FC236}">
                <a16:creationId xmlns:a16="http://schemas.microsoft.com/office/drawing/2014/main" id="{FD6651B8-9708-468C-A9DB-71E5ABFD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7–18 SEP</a:t>
            </a:r>
          </a:p>
        </p:txBody>
      </p:sp>
      <p:sp>
        <p:nvSpPr>
          <p:cNvPr id="10" name="timeline-title-350-0">
            <a:extLst xmlns:a="http://schemas.openxmlformats.org/drawingml/2006/main">
              <a:ext uri="{FF2B5EF4-FFF2-40B4-BE49-F238E27FC236}">
                <a16:creationId xmlns:a16="http://schemas.microsoft.com/office/drawing/2014/main" id="{7AD24096-5798-4289-9117-8ECE99FE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&amp; select</a:t>
            </a:r>
          </a:p>
        </p:txBody>
      </p:sp>
      <p:sp>
        <p:nvSpPr>
          <p:cNvPr id="11" name="timeline-body-350-0">
            <a:extLst xmlns:a="http://schemas.openxmlformats.org/drawingml/2006/main">
              <a:ext uri="{FF2B5EF4-FFF2-40B4-BE49-F238E27FC236}">
                <a16:creationId xmlns:a16="http://schemas.microsoft.com/office/drawing/2014/main" id="{AAECB8DC-28FB-4B37-AA79-09A551A5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Technology research → vendor selection → confirmed supplier</a:t>
            </a:r>
          </a:p>
        </p:txBody>
      </p:sp>
      <p:sp>
        <p:nvSpPr>
          <p:cNvPr id="12" name="timeline-dot-350-1">
            <a:extLst xmlns:a="http://schemas.openxmlformats.org/drawingml/2006/main">
              <a:ext uri="{FF2B5EF4-FFF2-40B4-BE49-F238E27FC236}">
                <a16:creationId xmlns:a16="http://schemas.microsoft.com/office/drawing/2014/main" id="{CC973172-E9B1-41B7-96BA-7383587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350-1">
            <a:extLst xmlns:a="http://schemas.openxmlformats.org/drawingml/2006/main">
              <a:ext uri="{FF2B5EF4-FFF2-40B4-BE49-F238E27FC236}">
                <a16:creationId xmlns:a16="http://schemas.microsoft.com/office/drawing/2014/main" id="{06C93D38-AABB-4DAF-93A6-2E9E7A2E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21 SEP–9 OCT</a:t>
            </a:r>
          </a:p>
        </p:txBody>
      </p:sp>
      <p:sp>
        <p:nvSpPr>
          <p:cNvPr id="14" name="timeline-title-350-1">
            <a:extLst xmlns:a="http://schemas.openxmlformats.org/drawingml/2006/main">
              <a:ext uri="{FF2B5EF4-FFF2-40B4-BE49-F238E27FC236}">
                <a16:creationId xmlns:a16="http://schemas.microsoft.com/office/drawing/2014/main" id="{9FA77BB6-8581-4A95-9059-599E0108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Comply &amp; prepare</a:t>
            </a:r>
          </a:p>
        </p:txBody>
      </p:sp>
      <p:sp>
        <p:nvSpPr>
          <p:cNvPr id="15" name="timeline-body-350-1">
            <a:extLst xmlns:a="http://schemas.openxmlformats.org/drawingml/2006/main">
              <a:ext uri="{FF2B5EF4-FFF2-40B4-BE49-F238E27FC236}">
                <a16:creationId xmlns:a16="http://schemas.microsoft.com/office/drawing/2014/main" id="{BC25CC4C-3C35-4A85-9477-5FECBF4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Regulatory, privacy, security, infrastructure, procurement, build, and training</a:t>
            </a:r>
          </a:p>
        </p:txBody>
      </p:sp>
      <p:sp>
        <p:nvSpPr>
          <p:cNvPr id="16" name="timeline-dot-350-2">
            <a:extLst xmlns:a="http://schemas.openxmlformats.org/drawingml/2006/main">
              <a:ext uri="{FF2B5EF4-FFF2-40B4-BE49-F238E27FC236}">
                <a16:creationId xmlns:a16="http://schemas.microsoft.com/office/drawing/2014/main" id="{E0B9B6F6-E58F-46A5-A9FA-D72DCFE5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350-2">
            <a:extLst xmlns:a="http://schemas.openxmlformats.org/drawingml/2006/main">
              <a:ext uri="{FF2B5EF4-FFF2-40B4-BE49-F238E27FC236}">
                <a16:creationId xmlns:a16="http://schemas.microsoft.com/office/drawing/2014/main" id="{5B0A76E8-43DE-4566-B12E-1E29FBA5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13 OCT–6 NOV</a:t>
            </a:r>
          </a:p>
        </p:txBody>
      </p:sp>
      <p:sp>
        <p:nvSpPr>
          <p:cNvPr id="18" name="timeline-title-350-2">
            <a:extLst xmlns:a="http://schemas.openxmlformats.org/drawingml/2006/main">
              <a:ext uri="{FF2B5EF4-FFF2-40B4-BE49-F238E27FC236}">
                <a16:creationId xmlns:a16="http://schemas.microsoft.com/office/drawing/2014/main" id="{E9C81D2A-BDDD-4775-B6F9-08CCA6C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Test, launch &amp; learn</a:t>
            </a:r>
          </a:p>
        </p:txBody>
      </p:sp>
      <p:sp>
        <p:nvSpPr>
          <p:cNvPr id="19" name="timeline-body-350-2">
            <a:extLst xmlns:a="http://schemas.openxmlformats.org/drawingml/2006/main">
              <a:ext uri="{FF2B5EF4-FFF2-40B4-BE49-F238E27FC236}">
                <a16:creationId xmlns:a16="http://schemas.microsoft.com/office/drawing/2014/main" id="{0B4D656F-D8FB-4769-A179-8C382D99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QA → security validation → pilot → go/no-go → go-live → benefits handover</a:t>
            </a:r>
          </a:p>
        </p:txBody>
      </p:sp>
    </p:spTree>
    <p:extLst>
      <p:ext uri="{BB962C8B-B14F-4D97-AF65-F5344CB8AC3E}">
        <p14:creationId xmlns:p14="http://schemas.microsoft.com/office/powerpoint/2010/main" val="2127113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7">
            <a:extLst xmlns:a="http://schemas.openxmlformats.org/drawingml/2006/main">
              <a:ext uri="{FF2B5EF4-FFF2-40B4-BE49-F238E27FC236}">
                <a16:creationId xmlns:a16="http://schemas.microsoft.com/office/drawing/2014/main" id="{DC12F1E1-3451-4488-BF0F-D6EF8BBD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2  /  ONGOING INTAKE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227B85E-D6C6-4BA4-A346-24A02E25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2 makes every request auditable</a:t>
            </a:r>
          </a:p>
        </p:txBody>
      </p:sp>
      <p:cxnSp>
        <p:nvCxnSpPr>
          <p:cNvPr id="10" name="title-rule-7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D0DC0B95-CFC0-4B12-BBBE-EB7D505B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85820592-0789-453E-8AF8-699353F0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ba765fecb454a"/>
          <a:stretch xmlns:a="http://schemas.openxmlformats.org/drawingml/2006/main"/>
        </p:blipFill>
        <p:spPr>
          <a:xfrm xmlns:a="http://schemas.openxmlformats.org/drawingml/2006/main">
            <a:off x="991082" y="1466850"/>
            <a:ext cx="10209837" cy="3943350"/>
          </a:xfrm>
          <a:prstGeom xmlns:a="http://schemas.openxmlformats.org/drawingml/2006/main" prst="rect">
            <a:avLst/>
          </a:prstGeom>
        </p:spPr>
      </p:pic>
      <p:sp>
        <p:nvSpPr>
          <p:cNvPr id="7" name="process-map-takeaway">
            <a:extLst xmlns:a="http://schemas.openxmlformats.org/drawingml/2006/main">
              <a:ext uri="{FF2B5EF4-FFF2-40B4-BE49-F238E27FC236}">
                <a16:creationId xmlns:a16="http://schemas.microsoft.com/office/drawing/2014/main" id="{C3FDD016-522F-49B6-BD8F-FE4675C9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2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Asana preserves the decision gates and separates Approved, On Hold—Capacity, and Rejected outcomes for cleaner reporting.</a:t>
            </a:r>
          </a:p>
        </p:txBody>
      </p:sp>
    </p:spTree>
    <p:extLst>
      <p:ext uri="{BB962C8B-B14F-4D97-AF65-F5344CB8AC3E}">
        <p14:creationId xmlns:p14="http://schemas.microsoft.com/office/powerpoint/2010/main" val="1494871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8">
            <a:extLst xmlns:a="http://schemas.openxmlformats.org/drawingml/2006/main">
              <a:ext uri="{FF2B5EF4-FFF2-40B4-BE49-F238E27FC236}">
                <a16:creationId xmlns:a16="http://schemas.microsoft.com/office/drawing/2014/main" id="{F991BADA-E44E-4120-AB4D-2CB31A33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2  /  FORM + FIELDS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8275847-F572-41EC-AB59-F8FC8DA4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form feeds routing, rules, and reporting</a:t>
            </a:r>
          </a:p>
        </p:txBody>
      </p:sp>
      <p:cxnSp>
        <p:nvCxnSpPr>
          <p:cNvPr id="10" name="title-rule-8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120D094-BD7F-4BFD-8EE9-03B24533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6A3A4672-2C30-4E24-A356-A98983E0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form-intro">
            <a:extLst xmlns:a="http://schemas.openxmlformats.org/drawingml/2006/main">
              <a:ext uri="{FF2B5EF4-FFF2-40B4-BE49-F238E27FC236}">
                <a16:creationId xmlns:a16="http://schemas.microsoft.com/office/drawing/2014/main" id="{F1EB94F4-DAFE-41D8-AB37-7A10F48C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Required answers map to governed fields. Branching asks only the relevant sub-area question.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190750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2857500"/>
                <a:gridCol w="5486400"/>
              </a:tblGrid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Maps to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value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Request title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Task title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Clear, outcome-focused record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Objective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Objective field / description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Goal-alignment evidence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Estimated budget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Currency field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Scoping and portfolio context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Improvement area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Shared single-select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Operations / Engineering / Technology routing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Conditional sub-area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Sub-area field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Ground, Flight, Mechanical, Software, Entertainment, or Security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Delivery date + attachment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 + task attachment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Feasibility and supporting evidence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1710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9">
            <a:extLst xmlns:a="http://schemas.openxmlformats.org/drawingml/2006/main">
              <a:ext uri="{FF2B5EF4-FFF2-40B4-BE49-F238E27FC236}">
                <a16:creationId xmlns:a16="http://schemas.microsoft.com/office/drawing/2014/main" id="{5EF38D37-BFE5-4B73-96D1-ADBC9451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2  /  AUTOMATION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46D08A1-1B54-4578-8E30-B76B234C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Eleven rules automate movement—not accountability</a:t>
            </a:r>
          </a:p>
        </p:txBody>
      </p:sp>
      <p:cxnSp>
        <p:nvCxnSpPr>
          <p:cNvPr id="22" name="title-rule-9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06524357-7B3F-4C48-B1A4-778E174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25692454-4AD8-4EE7-993A-7FB5EF85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automation-intro">
            <a:extLst xmlns:a="http://schemas.openxmlformats.org/drawingml/2006/main">
              <a:ext uri="{FF2B5EF4-FFF2-40B4-BE49-F238E27FC236}">
                <a16:creationId xmlns:a16="http://schemas.microsoft.com/office/drawing/2014/main" id="{FFA0EA44-069D-418A-ACF0-05430E69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66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Every automation is documented as a trigger, a condition, and an action. Ownership and decision rights remain visible.</a:t>
            </a:r>
          </a:p>
        </p:txBody>
      </p:sp>
      <p:cxnSp>
        <p:nvCxnSpPr>
          <p:cNvPr id="26" name="auto-link-1"/>
          <p:cNvCxnSpPr/>
          <p:nvPr/>
        </p:nvCxnSpPr>
        <p:spPr>
          <a:xfrm xmlns:a="http://schemas.openxmlformats.org/drawingml/2006/main">
            <a:off x="3524250" y="30670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7" name="auto-link-2"/>
          <p:cNvCxnSpPr/>
          <p:nvPr/>
        </p:nvCxnSpPr>
        <p:spPr>
          <a:xfrm xmlns:a="http://schemas.openxmlformats.org/drawingml/2006/main">
            <a:off x="7620000" y="30670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trigger-panel">
            <a:extLst xmlns:a="http://schemas.openxmlformats.org/drawingml/2006/main">
              <a:ext uri="{FF2B5EF4-FFF2-40B4-BE49-F238E27FC236}">
                <a16:creationId xmlns:a16="http://schemas.microsoft.com/office/drawing/2014/main" id="{F94C1AC4-0835-4E3C-BD40-576F586C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condition-panel">
            <a:extLst xmlns:a="http://schemas.openxmlformats.org/drawingml/2006/main">
              <a:ext uri="{FF2B5EF4-FFF2-40B4-BE49-F238E27FC236}">
                <a16:creationId xmlns:a16="http://schemas.microsoft.com/office/drawing/2014/main" id="{DDE1B60B-132C-422D-B672-81DE642A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7"/>
          </a:solidFill>
          <a:ln xmlns:a="http://schemas.openxmlformats.org/drawingml/2006/main" w="9525">
            <a:solidFill>
              <a:srgbClr val="7B61A8"/>
            </a:solidFill>
            <a:prstDash val="solid"/>
          </a:ln>
        </p:spPr>
      </p:sp>
      <p:sp>
        <p:nvSpPr>
          <p:cNvPr id="11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7F66B585-6D49-448B-AA0C-A5660D87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1F9D8A"/>
            </a:solidFill>
            <a:prstDash val="solid"/>
          </a:ln>
        </p:spPr>
      </p:sp>
      <p:sp>
        <p:nvSpPr>
          <p:cNvPr id="12" name="trigger-title">
            <a:extLst xmlns:a="http://schemas.openxmlformats.org/drawingml/2006/main">
              <a:ext uri="{FF2B5EF4-FFF2-40B4-BE49-F238E27FC236}">
                <a16:creationId xmlns:a16="http://schemas.microsoft.com/office/drawing/2014/main" id="{804B10D3-8615-48B0-B2C9-EAC9E4F5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3" name="trigger-body">
            <a:extLst xmlns:a="http://schemas.openxmlformats.org/drawingml/2006/main">
              <a:ext uri="{FF2B5EF4-FFF2-40B4-BE49-F238E27FC236}">
                <a16:creationId xmlns:a16="http://schemas.microsoft.com/office/drawing/2014/main" id="{57379C0E-E941-476B-ABF0-9AB4C3F0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35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event that starts evaluation</a:t>
            </a:r>
          </a:p>
        </p:txBody>
      </p:sp>
      <p:sp>
        <p:nvSpPr>
          <p:cNvPr id="14" name="condition-title">
            <a:extLst xmlns:a="http://schemas.openxmlformats.org/drawingml/2006/main">
              <a:ext uri="{FF2B5EF4-FFF2-40B4-BE49-F238E27FC236}">
                <a16:creationId xmlns:a16="http://schemas.microsoft.com/office/drawing/2014/main" id="{F3E90F87-0E9A-4ADB-989B-2AC81BDE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7B61A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B61A8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5" name="condition-body">
            <a:extLst xmlns:a="http://schemas.openxmlformats.org/drawingml/2006/main">
              <a:ext uri="{FF2B5EF4-FFF2-40B4-BE49-F238E27FC236}">
                <a16:creationId xmlns:a16="http://schemas.microsoft.com/office/drawing/2014/main" id="{E91C9395-22C5-4547-900C-C4AB2DBB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35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criteria that must be true</a:t>
            </a:r>
          </a:p>
        </p:txBody>
      </p:sp>
      <p:sp>
        <p:nvSpPr>
          <p:cNvPr id="16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EBD0E217-B196-45EB-B073-98BD261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7" name="action-body">
            <a:extLst xmlns:a="http://schemas.openxmlformats.org/drawingml/2006/main">
              <a:ext uri="{FF2B5EF4-FFF2-40B4-BE49-F238E27FC236}">
                <a16:creationId xmlns:a16="http://schemas.microsoft.com/office/drawing/2014/main" id="{0D036482-E5BA-46D5-AD16-CB11B186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35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accountable next step</a:t>
            </a:r>
          </a:p>
        </p:txBody>
      </p:sp>
      <p:sp>
        <p:nvSpPr>
          <p:cNvPr id="18" name="automation-example">
            <a:extLst xmlns:a="http://schemas.openxmlformats.org/drawingml/2006/main">
              <a:ext uri="{FF2B5EF4-FFF2-40B4-BE49-F238E27FC236}">
                <a16:creationId xmlns:a16="http://schemas.microsoft.com/office/drawing/2014/main" id="{5CBFA195-8865-45F0-AFD9-87BCAE1A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Example: Goal Alignment changes → Yes → move to Resourcing Approval, update Status, and assign the accountable approver.</a:t>
            </a:r>
          </a:p>
        </p:txBody>
      </p:sp>
      <p:sp>
        <p:nvSpPr>
          <p:cNvPr id="19" name="automation-groups">
            <a:extLst xmlns:a="http://schemas.openxmlformats.org/drawingml/2006/main">
              <a:ext uri="{FF2B5EF4-FFF2-40B4-BE49-F238E27FC236}">
                <a16:creationId xmlns:a16="http://schemas.microsoft.com/office/drawing/2014/main" id="{B2FC19F0-C7C2-4928-BD48-3EC5591F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Rule groups: intake  •  functional routing  •  alignment decision  •  resource decision  •  kickoff  •  closure</a:t>
            </a:r>
          </a:p>
        </p:txBody>
      </p:sp>
    </p:spTree>
    <p:extLst>
      <p:ext uri="{BB962C8B-B14F-4D97-AF65-F5344CB8AC3E}">
        <p14:creationId xmlns:p14="http://schemas.microsoft.com/office/powerpoint/2010/main" val="1252384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0">
            <a:extLst xmlns:a="http://schemas.openxmlformats.org/drawingml/2006/main">
              <a:ext uri="{FF2B5EF4-FFF2-40B4-BE49-F238E27FC236}">
                <a16:creationId xmlns:a16="http://schemas.microsoft.com/office/drawing/2014/main" id="{25D5D60D-2445-412D-9B2E-DFA517D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CHANGE NETWORK  /  ACCOUNTABILITY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738BEF5-DDDD-4A38-B992-D37A5D92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Governance makes decision rights explicit</a:t>
            </a:r>
          </a:p>
        </p:txBody>
      </p:sp>
      <p:cxnSp>
        <p:nvCxnSpPr>
          <p:cNvPr id="10" name="title-rule-10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2A48A8E6-CDDB-4B45-BBDA-EC1E82E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23D07BAB-885D-441E-887D-30DBE97D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governance-intro">
            <a:extLst xmlns:a="http://schemas.openxmlformats.org/drawingml/2006/main">
              <a:ext uri="{FF2B5EF4-FFF2-40B4-BE49-F238E27FC236}">
                <a16:creationId xmlns:a16="http://schemas.microsoft.com/office/drawing/2014/main" id="{C684ADDC-A7A1-4849-A8F4-9F7314C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One accountable owner drives each decision; collaborators supply evidence and visibility.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228850"/>
          <a:ext xmlns:a="http://schemas.openxmlformats.org/drawingml/2006/main" cx="11391900" cy="3562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952750"/>
                <a:gridCol w="5962650"/>
              </a:tblGrid>
              <a:tr h="593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Stakeholder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Capstone role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accountability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Mark Thompson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Sponsor / workflow 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Approve workflow changes and resourcing governance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Natalie Chang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Operations decision maker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Validate operational alignment and adoption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Ryan Patel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Technology approver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Review architecture, security, and integrations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Samantha Lewis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Benefits owner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Validate customer-experience alignment and measures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David Smith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Delivery lead / champion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Build, manage, train, and capture feedback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931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11">
            <a:extLst xmlns:a="http://schemas.openxmlformats.org/drawingml/2006/main">
              <a:ext uri="{FF2B5EF4-FFF2-40B4-BE49-F238E27FC236}">
                <a16:creationId xmlns:a16="http://schemas.microsoft.com/office/drawing/2014/main" id="{13D4C7EA-33AF-4B7A-8094-FDCC4482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3  /  SOCIALIZATION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B0261C25-A1BA-4D05-B8AF-525AF561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Adoption is deployed as a workflow</a:t>
            </a:r>
          </a:p>
        </p:txBody>
      </p:sp>
      <p:cxnSp>
        <p:nvCxnSpPr>
          <p:cNvPr id="22" name="title-rule-11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C7C51859-B6F1-49C5-9BFC-6561ED02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245F6439-0987-4AC6-B6C0-CD7745CC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deployment-intro">
            <a:extLst xmlns:a="http://schemas.openxmlformats.org/drawingml/2006/main">
              <a:ext uri="{FF2B5EF4-FFF2-40B4-BE49-F238E27FC236}">
                <a16:creationId xmlns:a16="http://schemas.microsoft.com/office/drawing/2014/main" id="{9AB30260-4081-4E60-882D-5C37FB8D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The request workflow is the lead change case because it touches many teams and demonstrates visible value quickly.</a:t>
            </a:r>
          </a:p>
        </p:txBody>
      </p:sp>
      <p:cxnSp>
        <p:nvCxnSpPr>
          <p:cNvPr id="26" name="timeline-350"/>
          <p:cNvCxnSpPr/>
          <p:nvPr/>
        </p:nvCxnSpPr>
        <p:spPr>
          <a:xfrm xmlns:a="http://schemas.openxmlformats.org/drawingml/2006/main">
            <a:off x="590550" y="3333750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timeline-dot-350-0">
            <a:extLst xmlns:a="http://schemas.openxmlformats.org/drawingml/2006/main">
              <a:ext uri="{FF2B5EF4-FFF2-40B4-BE49-F238E27FC236}">
                <a16:creationId xmlns:a16="http://schemas.microsoft.com/office/drawing/2014/main" id="{39DD3E50-F4B1-4F33-BCBB-45EB829C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350-0">
            <a:extLst xmlns:a="http://schemas.openxmlformats.org/drawingml/2006/main">
              <a:ext uri="{FF2B5EF4-FFF2-40B4-BE49-F238E27FC236}">
                <a16:creationId xmlns:a16="http://schemas.microsoft.com/office/drawing/2014/main" id="{44E3E581-B4A1-4578-B3BB-CF78CDBE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25–31 AUG</a:t>
            </a:r>
          </a:p>
        </p:txBody>
      </p:sp>
      <p:sp>
        <p:nvSpPr>
          <p:cNvPr id="10" name="timeline-title-350-0">
            <a:extLst xmlns:a="http://schemas.openxmlformats.org/drawingml/2006/main">
              <a:ext uri="{FF2B5EF4-FFF2-40B4-BE49-F238E27FC236}">
                <a16:creationId xmlns:a16="http://schemas.microsoft.com/office/drawing/2014/main" id="{5034FD80-8A9C-4696-90B5-EE96616C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1" name="timeline-body-350-0">
            <a:extLst xmlns:a="http://schemas.openxmlformats.org/drawingml/2006/main">
              <a:ext uri="{FF2B5EF4-FFF2-40B4-BE49-F238E27FC236}">
                <a16:creationId xmlns:a16="http://schemas.microsoft.com/office/drawing/2014/main" id="{6E3916B4-040D-4003-8DBD-7377ACAB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UAT, champion briefing, pre-launch email, and role-based training</a:t>
            </a:r>
          </a:p>
        </p:txBody>
      </p:sp>
      <p:sp>
        <p:nvSpPr>
          <p:cNvPr id="12" name="timeline-dot-350-1">
            <a:extLst xmlns:a="http://schemas.openxmlformats.org/drawingml/2006/main">
              <a:ext uri="{FF2B5EF4-FFF2-40B4-BE49-F238E27FC236}">
                <a16:creationId xmlns:a16="http://schemas.microsoft.com/office/drawing/2014/main" id="{61599897-903B-4DD2-B0CA-143B0129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350-1">
            <a:extLst xmlns:a="http://schemas.openxmlformats.org/drawingml/2006/main">
              <a:ext uri="{FF2B5EF4-FFF2-40B4-BE49-F238E27FC236}">
                <a16:creationId xmlns:a16="http://schemas.microsoft.com/office/drawing/2014/main" id="{C54DB0A5-C9AB-470D-9B93-0DB710C9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1–4 SEP</a:t>
            </a:r>
          </a:p>
        </p:txBody>
      </p:sp>
      <p:sp>
        <p:nvSpPr>
          <p:cNvPr id="14" name="timeline-title-350-1">
            <a:extLst xmlns:a="http://schemas.openxmlformats.org/drawingml/2006/main">
              <a:ext uri="{FF2B5EF4-FFF2-40B4-BE49-F238E27FC236}">
                <a16:creationId xmlns:a16="http://schemas.microsoft.com/office/drawing/2014/main" id="{FFFCB3B1-85BF-4C12-AE9B-9601FB05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Launch &amp; support</a:t>
            </a:r>
          </a:p>
        </p:txBody>
      </p:sp>
      <p:sp>
        <p:nvSpPr>
          <p:cNvPr id="15" name="timeline-body-350-1">
            <a:extLst xmlns:a="http://schemas.openxmlformats.org/drawingml/2006/main">
              <a:ext uri="{FF2B5EF4-FFF2-40B4-BE49-F238E27FC236}">
                <a16:creationId xmlns:a16="http://schemas.microsoft.com/office/drawing/2014/main" id="{70746894-1132-4FC8-978C-B7BE450A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Q&amp;A, go-live, form link, daily hypercare, and issue triage</a:t>
            </a:r>
          </a:p>
        </p:txBody>
      </p:sp>
      <p:sp>
        <p:nvSpPr>
          <p:cNvPr id="16" name="timeline-dot-350-2">
            <a:extLst xmlns:a="http://schemas.openxmlformats.org/drawingml/2006/main">
              <a:ext uri="{FF2B5EF4-FFF2-40B4-BE49-F238E27FC236}">
                <a16:creationId xmlns:a16="http://schemas.microsoft.com/office/drawing/2014/main" id="{E1889CC6-69C4-46CA-8D18-1CF8A8C6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350-2">
            <a:extLst xmlns:a="http://schemas.openxmlformats.org/drawingml/2006/main">
              <a:ext uri="{FF2B5EF4-FFF2-40B4-BE49-F238E27FC236}">
                <a16:creationId xmlns:a16="http://schemas.microsoft.com/office/drawing/2014/main" id="{C1BB2A0B-C5BC-44E4-85FA-8CED2662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9 SEP–2 OCT</a:t>
            </a:r>
          </a:p>
        </p:txBody>
      </p:sp>
      <p:sp>
        <p:nvSpPr>
          <p:cNvPr id="18" name="timeline-title-350-2">
            <a:extLst xmlns:a="http://schemas.openxmlformats.org/drawingml/2006/main">
              <a:ext uri="{FF2B5EF4-FFF2-40B4-BE49-F238E27FC236}">
                <a16:creationId xmlns:a16="http://schemas.microsoft.com/office/drawing/2014/main" id="{311D8A50-D1A2-4933-9852-0A651DF0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 &amp; improve</a:t>
            </a:r>
          </a:p>
        </p:txBody>
      </p:sp>
      <p:sp>
        <p:nvSpPr>
          <p:cNvPr id="19" name="timeline-body-350-2">
            <a:extLst xmlns:a="http://schemas.openxmlformats.org/drawingml/2006/main">
              <a:ext uri="{FF2B5EF4-FFF2-40B4-BE49-F238E27FC236}">
                <a16:creationId xmlns:a16="http://schemas.microsoft.com/office/drawing/2014/main" id="{6EC6500D-5062-447E-BD6E-C121FED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Seven-day adoption review, baseline capture, and 30-day improvement backlog</a:t>
            </a:r>
          </a:p>
        </p:txBody>
      </p:sp>
    </p:spTree>
    <p:extLst>
      <p:ext uri="{BB962C8B-B14F-4D97-AF65-F5344CB8AC3E}">
        <p14:creationId xmlns:p14="http://schemas.microsoft.com/office/powerpoint/2010/main" val="1054885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2">
            <a:extLst xmlns:a="http://schemas.openxmlformats.org/drawingml/2006/main">
              <a:ext uri="{FF2B5EF4-FFF2-40B4-BE49-F238E27FC236}">
                <a16:creationId xmlns:a16="http://schemas.microsoft.com/office/drawing/2014/main" id="{0600D583-68FC-4E04-B7AF-417E1D33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MEASUREMENT  /  INITIAL TARGETS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9E2D565-FEE4-4D3D-A00F-8E9F3EC6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 signals show whether the system is working</a:t>
            </a:r>
          </a:p>
        </p:txBody>
      </p:sp>
      <p:cxnSp>
        <p:nvCxnSpPr>
          <p:cNvPr id="10" name="title-rule-12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DCB57C1A-700E-44A0-A019-89078ED8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F2C790D3-6D10-491A-906F-750ED211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metrics-intro">
            <a:extLst xmlns:a="http://schemas.openxmlformats.org/drawingml/2006/main">
              <a:ext uri="{FF2B5EF4-FFF2-40B4-BE49-F238E27FC236}">
                <a16:creationId xmlns:a16="http://schemas.microsoft.com/office/drawing/2014/main" id="{CBB9A85D-E18F-4A72-B544-E459A8E4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Targets are proposed for sponsor confirmation. The first two weeks establish the baseline; only then should improvement be claimed.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209800"/>
          <a:ext xmlns:a="http://schemas.openxmlformats.org/drawingml/2006/main" cx="113919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14750"/>
                <a:gridCol w="2476500"/>
                <a:gridCol w="5200650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Initial target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Complete intake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≥95%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Form and required fields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Acknowledgment time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≤1 business day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Created and assigned timestamps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Decision cycle 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≤5 business 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Created and decision 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Actionable-work rate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≥95%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Assignee + due date completeness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On-time completion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≥85%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Dashboard / reporting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Blocked-work age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&lt;2 business days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Status history</a:t>
                      </a:r>
                    </a:p>
                  </a:txBody>
                  <a:tcPr marL="91440" marR="91440" marT="45720" marB="45720">
                    <a:solidFill>
                      <a:srgbClr val="F7F9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30-day adoption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≥80%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Weekly assigned-work activity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8566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3">
            <a:extLst xmlns:a="http://schemas.openxmlformats.org/drawingml/2006/main">
              <a:ext uri="{FF2B5EF4-FFF2-40B4-BE49-F238E27FC236}">
                <a16:creationId xmlns:a16="http://schemas.microsoft.com/office/drawing/2014/main" id="{121E0AA1-488C-499F-BCBC-6F505E87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QUALITY CONTROL  /  USER ACCEPTANCE TESTING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BC103F3-2CB7-4825-8D16-F6F9A66B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Ten UAT scenarios protect go-live</a:t>
            </a:r>
          </a:p>
        </p:txBody>
      </p:sp>
      <p:cxnSp>
        <p:nvCxnSpPr>
          <p:cNvPr id="20" name="title-rule-13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8803E8DD-0F05-4B8F-9AA4-AE88CBD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001A8E77-1749-4C2D-A1A6-9CFA8F72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uat-lead">
            <a:extLst xmlns:a="http://schemas.openxmlformats.org/drawingml/2006/main">
              <a:ext uri="{FF2B5EF4-FFF2-40B4-BE49-F238E27FC236}">
                <a16:creationId xmlns:a16="http://schemas.microsoft.com/office/drawing/2014/main" id="{005D0376-C7C1-48CA-84E5-94A9FD6D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715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11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 workflow is not ready because it looks correct. It is ready when each branch, decision, permission, and report behaves as expected.</a:t>
            </a:r>
          </a:p>
        </p:txBody>
      </p:sp>
      <p:sp>
        <p:nvSpPr>
          <p:cNvPr id="7" name="uat-body">
            <a:extLst xmlns:a="http://schemas.openxmlformats.org/drawingml/2006/main">
              <a:ext uri="{FF2B5EF4-FFF2-40B4-BE49-F238E27FC236}">
                <a16:creationId xmlns:a16="http://schemas.microsoft.com/office/drawing/2014/main" id="{61AB7E64-745E-42F9-8CCB-A4BBD19A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571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Every failure is fixed, evidenced, and retested. Test data is then archived or clearly labeled before the live form is shared.</a:t>
            </a:r>
          </a:p>
        </p:txBody>
      </p:sp>
      <p:sp>
        <p:nvSpPr>
          <p:cNvPr id="8" name="check-242-0">
            <a:extLst xmlns:a="http://schemas.openxmlformats.org/drawingml/2006/main">
              <a:ext uri="{FF2B5EF4-FFF2-40B4-BE49-F238E27FC236}">
                <a16:creationId xmlns:a16="http://schemas.microsoft.com/office/drawing/2014/main" id="{9174C560-30D4-46D6-B5B0-4DAB2074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check-label-242-0">
            <a:extLst xmlns:a="http://schemas.openxmlformats.org/drawingml/2006/main">
              <a:ext uri="{FF2B5EF4-FFF2-40B4-BE49-F238E27FC236}">
                <a16:creationId xmlns:a16="http://schemas.microsoft.com/office/drawing/2014/main" id="{6C4CC389-CF0A-4C39-9405-F7B2257D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form branches</a:t>
            </a:r>
          </a:p>
        </p:txBody>
      </p:sp>
      <p:sp>
        <p:nvSpPr>
          <p:cNvPr id="10" name="check-242-1">
            <a:extLst xmlns:a="http://schemas.openxmlformats.org/drawingml/2006/main">
              <a:ext uri="{FF2B5EF4-FFF2-40B4-BE49-F238E27FC236}">
                <a16:creationId xmlns:a16="http://schemas.microsoft.com/office/drawing/2014/main" id="{18CA3C27-AF0B-4A1D-9D04-BFD4EE18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check-label-242-1">
            <a:extLst xmlns:a="http://schemas.openxmlformats.org/drawingml/2006/main">
              <a:ext uri="{FF2B5EF4-FFF2-40B4-BE49-F238E27FC236}">
                <a16:creationId xmlns:a16="http://schemas.microsoft.com/office/drawing/2014/main" id="{2E06B7F6-6090-426A-AF7C-BB71778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alignment outcomes</a:t>
            </a:r>
          </a:p>
        </p:txBody>
      </p:sp>
      <p:sp>
        <p:nvSpPr>
          <p:cNvPr id="12" name="check-242-2">
            <a:extLst xmlns:a="http://schemas.openxmlformats.org/drawingml/2006/main">
              <a:ext uri="{FF2B5EF4-FFF2-40B4-BE49-F238E27FC236}">
                <a16:creationId xmlns:a16="http://schemas.microsoft.com/office/drawing/2014/main" id="{CF30BAED-4FFB-49A5-92F0-6E4B71CE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check-label-242-2">
            <a:extLst xmlns:a="http://schemas.openxmlformats.org/drawingml/2006/main">
              <a:ext uri="{FF2B5EF4-FFF2-40B4-BE49-F238E27FC236}">
                <a16:creationId xmlns:a16="http://schemas.microsoft.com/office/drawing/2014/main" id="{3A5BF64F-69AF-4FB1-9FD4-D399C61E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resourcing outcomes</a:t>
            </a:r>
          </a:p>
        </p:txBody>
      </p:sp>
      <p:sp>
        <p:nvSpPr>
          <p:cNvPr id="14" name="check-242-3">
            <a:extLst xmlns:a="http://schemas.openxmlformats.org/drawingml/2006/main">
              <a:ext uri="{FF2B5EF4-FFF2-40B4-BE49-F238E27FC236}">
                <a16:creationId xmlns:a16="http://schemas.microsoft.com/office/drawing/2014/main" id="{F0AC58FD-4E74-462A-B4E3-8105D069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check-label-242-3">
            <a:extLst xmlns:a="http://schemas.openxmlformats.org/drawingml/2006/main">
              <a:ext uri="{FF2B5EF4-FFF2-40B4-BE49-F238E27FC236}">
                <a16:creationId xmlns:a16="http://schemas.microsoft.com/office/drawing/2014/main" id="{A0A80EA5-14FE-4EA7-AB27-C14CBBD0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Permissions by role</a:t>
            </a:r>
          </a:p>
        </p:txBody>
      </p:sp>
      <p:sp>
        <p:nvSpPr>
          <p:cNvPr id="16" name="check-242-4">
            <a:extLst xmlns:a="http://schemas.openxmlformats.org/drawingml/2006/main">
              <a:ext uri="{FF2B5EF4-FFF2-40B4-BE49-F238E27FC236}">
                <a16:creationId xmlns:a16="http://schemas.microsoft.com/office/drawing/2014/main" id="{97D412E5-ACE6-4503-965E-A056AD03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9D8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9D8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check-label-242-4">
            <a:extLst xmlns:a="http://schemas.openxmlformats.org/drawingml/2006/main">
              <a:ext uri="{FF2B5EF4-FFF2-40B4-BE49-F238E27FC236}">
                <a16:creationId xmlns:a16="http://schemas.microsoft.com/office/drawing/2014/main" id="{F47ACAC5-649C-4BD9-8A4A-2492DF6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768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Dashboard reconciliation</a:t>
            </a:r>
          </a:p>
        </p:txBody>
      </p:sp>
    </p:spTree>
    <p:extLst>
      <p:ext uri="{BB962C8B-B14F-4D97-AF65-F5344CB8AC3E}">
        <p14:creationId xmlns:p14="http://schemas.microsoft.com/office/powerpoint/2010/main" val="561510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4">
            <a:extLst xmlns:a="http://schemas.openxmlformats.org/drawingml/2006/main">
              <a:ext uri="{FF2B5EF4-FFF2-40B4-BE49-F238E27FC236}">
                <a16:creationId xmlns:a16="http://schemas.microsoft.com/office/drawing/2014/main" id="{81CB7558-AC4E-4F9C-868F-B8FDFCB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CERTIFICATE EVIDENCE  /  LEARNING OBJECTIVES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8941732E-7588-497A-BD44-7C6EA5E0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capstone covers every specialist outcome</a:t>
            </a:r>
          </a:p>
        </p:txBody>
      </p:sp>
      <p:cxnSp>
        <p:nvCxnSpPr>
          <p:cNvPr id="20" name="title-rule-14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80C552DE-B2E3-4225-B645-DC0A1F37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6A39709E-CD16-4252-9740-457C1B5E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outcomes-lead">
            <a:extLst xmlns:a="http://schemas.openxmlformats.org/drawingml/2006/main">
              <a:ext uri="{FF2B5EF4-FFF2-40B4-BE49-F238E27FC236}">
                <a16:creationId xmlns:a16="http://schemas.microsoft.com/office/drawing/2014/main" id="{7ACE0634-CDCE-49CF-8113-C2799F60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572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The strongest portfolio proof is not a long feature list. It is a traceable chain from business why to design, deployment, measurement, and expansion.</a:t>
            </a:r>
          </a:p>
        </p:txBody>
      </p:sp>
      <p:sp>
        <p:nvSpPr>
          <p:cNvPr id="7" name="outcomes-body">
            <a:extLst xmlns:a="http://schemas.openxmlformats.org/drawingml/2006/main">
              <a:ext uri="{FF2B5EF4-FFF2-40B4-BE49-F238E27FC236}">
                <a16:creationId xmlns:a16="http://schemas.microsoft.com/office/drawing/2014/main" id="{A173B6D0-7AB3-41F3-9692-29A6ACD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572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The final screenshots should show the build in Asana, while this case study explains the choices behind it.</a:t>
            </a:r>
          </a:p>
        </p:txBody>
      </p:sp>
      <p:sp>
        <p:nvSpPr>
          <p:cNvPr id="8" name="check-218-0">
            <a:extLst xmlns:a="http://schemas.openxmlformats.org/drawingml/2006/main">
              <a:ext uri="{FF2B5EF4-FFF2-40B4-BE49-F238E27FC236}">
                <a16:creationId xmlns:a16="http://schemas.microsoft.com/office/drawing/2014/main" id="{00C26F7E-3738-44CE-9071-72618716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check-label-218-0">
            <a:extLst xmlns:a="http://schemas.openxmlformats.org/drawingml/2006/main">
              <a:ext uri="{FF2B5EF4-FFF2-40B4-BE49-F238E27FC236}">
                <a16:creationId xmlns:a16="http://schemas.microsoft.com/office/drawing/2014/main" id="{1057CF81-3E8C-4424-9D67-9D3E9FB1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574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Collaborative Work Management</a:t>
            </a:r>
          </a:p>
        </p:txBody>
      </p:sp>
      <p:sp>
        <p:nvSpPr>
          <p:cNvPr id="10" name="check-218-1">
            <a:extLst xmlns:a="http://schemas.openxmlformats.org/drawingml/2006/main">
              <a:ext uri="{FF2B5EF4-FFF2-40B4-BE49-F238E27FC236}">
                <a16:creationId xmlns:a16="http://schemas.microsoft.com/office/drawing/2014/main" id="{20A72B2F-466C-4BF6-9025-EFB0B5C8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03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check-label-218-1">
            <a:extLst xmlns:a="http://schemas.openxmlformats.org/drawingml/2006/main">
              <a:ext uri="{FF2B5EF4-FFF2-40B4-BE49-F238E27FC236}">
                <a16:creationId xmlns:a16="http://schemas.microsoft.com/office/drawing/2014/main" id="{5332A928-7CB3-4A64-9BE7-201CA974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Workflow type selection</a:t>
            </a:r>
          </a:p>
        </p:txBody>
      </p:sp>
      <p:sp>
        <p:nvSpPr>
          <p:cNvPr id="12" name="check-218-2">
            <a:extLst xmlns:a="http://schemas.openxmlformats.org/drawingml/2006/main">
              <a:ext uri="{FF2B5EF4-FFF2-40B4-BE49-F238E27FC236}">
                <a16:creationId xmlns:a16="http://schemas.microsoft.com/office/drawing/2014/main" id="{586A49F5-98E1-48F6-AD9D-905946A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check-label-218-2">
            <a:extLst xmlns:a="http://schemas.openxmlformats.org/drawingml/2006/main">
              <a:ext uri="{FF2B5EF4-FFF2-40B4-BE49-F238E27FC236}">
                <a16:creationId xmlns:a16="http://schemas.microsoft.com/office/drawing/2014/main" id="{C1761D08-9E4E-4B96-82FB-559F2AC9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052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Discovery and process mapping</a:t>
            </a:r>
          </a:p>
        </p:txBody>
      </p:sp>
      <p:sp>
        <p:nvSpPr>
          <p:cNvPr id="14" name="check-218-3">
            <a:extLst xmlns:a="http://schemas.openxmlformats.org/drawingml/2006/main">
              <a:ext uri="{FF2B5EF4-FFF2-40B4-BE49-F238E27FC236}">
                <a16:creationId xmlns:a16="http://schemas.microsoft.com/office/drawing/2014/main" id="{18552BC6-F420-4867-A9AB-770D6BBC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check-label-218-3">
            <a:extLst xmlns:a="http://schemas.openxmlformats.org/drawingml/2006/main">
              <a:ext uri="{FF2B5EF4-FFF2-40B4-BE49-F238E27FC236}">
                <a16:creationId xmlns:a16="http://schemas.microsoft.com/office/drawing/2014/main" id="{9FF2DD12-59FE-4EE8-A0FF-D11A14F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291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 + advanced build</a:t>
            </a:r>
          </a:p>
        </p:txBody>
      </p:sp>
      <p:sp>
        <p:nvSpPr>
          <p:cNvPr id="16" name="check-218-4">
            <a:extLst xmlns:a="http://schemas.openxmlformats.org/drawingml/2006/main">
              <a:ext uri="{FF2B5EF4-FFF2-40B4-BE49-F238E27FC236}">
                <a16:creationId xmlns:a16="http://schemas.microsoft.com/office/drawing/2014/main" id="{DE534A2B-53B5-462E-8448-1F4EB0B7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72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check-label-218-4">
            <a:extLst xmlns:a="http://schemas.openxmlformats.org/drawingml/2006/main">
              <a:ext uri="{FF2B5EF4-FFF2-40B4-BE49-F238E27FC236}">
                <a16:creationId xmlns:a16="http://schemas.microsoft.com/office/drawing/2014/main" id="{F0D87C9E-457C-49AB-BB38-36E3AD0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530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Deployment, measurement, expansion</a:t>
            </a:r>
          </a:p>
        </p:txBody>
      </p:sp>
    </p:spTree>
    <p:extLst>
      <p:ext uri="{BB962C8B-B14F-4D97-AF65-F5344CB8AC3E}">
        <p14:creationId xmlns:p14="http://schemas.microsoft.com/office/powerpoint/2010/main" val="13830943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15">
            <a:extLst xmlns:a="http://schemas.openxmlformats.org/drawingml/2006/main">
              <a:ext uri="{FF2B5EF4-FFF2-40B4-BE49-F238E27FC236}">
                <a16:creationId xmlns:a16="http://schemas.microsoft.com/office/drawing/2014/main" id="{8F833BEC-A490-43F0-862E-DA5D4506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ACTION  /  PORTFOLIO COMPLETION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82BDFD66-7CAA-4750-AF02-987DF81A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Build, test, then capture the proof</a:t>
            </a:r>
          </a:p>
        </p:txBody>
      </p:sp>
      <p:cxnSp>
        <p:nvCxnSpPr>
          <p:cNvPr id="23" name="title-rule-15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FFE13086-150A-4912-895E-9953E22F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JAYSON  •  ASANA WORKFLOW SPECIALIST PORTFOLIO</a:t>
            </a:r>
          </a:p>
        </p:txBody>
      </p:sp>
      <p:sp>
        <p:nvSpPr>
          <p:cNvPr id="5" name="page-15">
            <a:extLst xmlns:a="http://schemas.openxmlformats.org/drawingml/2006/main">
              <a:ext uri="{FF2B5EF4-FFF2-40B4-BE49-F238E27FC236}">
                <a16:creationId xmlns:a16="http://schemas.microsoft.com/office/drawing/2014/main" id="{36E699AD-933F-422B-8E2E-BBA3E862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lose-intro">
            <a:extLst xmlns:a="http://schemas.openxmlformats.org/drawingml/2006/main">
              <a:ext uri="{FF2B5EF4-FFF2-40B4-BE49-F238E27FC236}">
                <a16:creationId xmlns:a16="http://schemas.microsoft.com/office/drawing/2014/main" id="{7E6C5253-CA6A-41DB-AABA-53E58BC5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The design is implementation-ready. The remaining evidence must come from Jayson’s own Asana workspace.</a:t>
            </a:r>
          </a:p>
        </p:txBody>
      </p:sp>
      <p:cxnSp>
        <p:nvCxnSpPr>
          <p:cNvPr id="27" name="timeline-350"/>
          <p:cNvCxnSpPr/>
          <p:nvPr/>
        </p:nvCxnSpPr>
        <p:spPr>
          <a:xfrm xmlns:a="http://schemas.openxmlformats.org/drawingml/2006/main">
            <a:off x="590550" y="3333750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timeline-dot-350-0">
            <a:extLst xmlns:a="http://schemas.openxmlformats.org/drawingml/2006/main">
              <a:ext uri="{FF2B5EF4-FFF2-40B4-BE49-F238E27FC236}">
                <a16:creationId xmlns:a16="http://schemas.microsoft.com/office/drawing/2014/main" id="{637335F4-D0D8-4F69-9785-04DB2E88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350-0">
            <a:extLst xmlns:a="http://schemas.openxmlformats.org/drawingml/2006/main">
              <a:ext uri="{FF2B5EF4-FFF2-40B4-BE49-F238E27FC236}">
                <a16:creationId xmlns:a16="http://schemas.microsoft.com/office/drawing/2014/main" id="{6E4842C7-159F-4D09-9FC9-D6F8CEEA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10" name="timeline-title-350-0">
            <a:extLst xmlns:a="http://schemas.openxmlformats.org/drawingml/2006/main">
              <a:ext uri="{FF2B5EF4-FFF2-40B4-BE49-F238E27FC236}">
                <a16:creationId xmlns:a16="http://schemas.microsoft.com/office/drawing/2014/main" id="{E8EA906A-5B47-4235-8600-35F4246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1" name="timeline-body-350-0">
            <a:extLst xmlns:a="http://schemas.openxmlformats.org/drawingml/2006/main">
              <a:ext uri="{FF2B5EF4-FFF2-40B4-BE49-F238E27FC236}">
                <a16:creationId xmlns:a16="http://schemas.microsoft.com/office/drawing/2014/main" id="{62F2ADC3-F013-40E6-8D77-934D736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Create the goal and portfolio, import Project 1, then configure Project 2 form, fields, and rules</a:t>
            </a:r>
          </a:p>
        </p:txBody>
      </p:sp>
      <p:sp>
        <p:nvSpPr>
          <p:cNvPr id="12" name="timeline-dot-350-1">
            <a:extLst xmlns:a="http://schemas.openxmlformats.org/drawingml/2006/main">
              <a:ext uri="{FF2B5EF4-FFF2-40B4-BE49-F238E27FC236}">
                <a16:creationId xmlns:a16="http://schemas.microsoft.com/office/drawing/2014/main" id="{69BC3CC4-92FB-438F-A2C3-F8BE3F93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350-1">
            <a:extLst xmlns:a="http://schemas.openxmlformats.org/drawingml/2006/main">
              <a:ext uri="{FF2B5EF4-FFF2-40B4-BE49-F238E27FC236}">
                <a16:creationId xmlns:a16="http://schemas.microsoft.com/office/drawing/2014/main" id="{F2DBC727-003D-4F70-B9FE-B8B87FD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4" name="timeline-title-350-1">
            <a:extLst xmlns:a="http://schemas.openxmlformats.org/drawingml/2006/main">
              <a:ext uri="{FF2B5EF4-FFF2-40B4-BE49-F238E27FC236}">
                <a16:creationId xmlns:a16="http://schemas.microsoft.com/office/drawing/2014/main" id="{3CC65E80-B5A3-4383-B34C-1A1518D0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timeline-body-350-1">
            <a:extLst xmlns:a="http://schemas.openxmlformats.org/drawingml/2006/main">
              <a:ext uri="{FF2B5EF4-FFF2-40B4-BE49-F238E27FC236}">
                <a16:creationId xmlns:a16="http://schemas.microsoft.com/office/drawing/2014/main" id="{F0C8DB5A-E70A-4972-B354-9ED346CA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Run all UAT cases, fix duplicate or incorrect actions, and verify permissions and reporting</a:t>
            </a:r>
          </a:p>
        </p:txBody>
      </p:sp>
      <p:sp>
        <p:nvSpPr>
          <p:cNvPr id="16" name="timeline-dot-350-2">
            <a:extLst xmlns:a="http://schemas.openxmlformats.org/drawingml/2006/main">
              <a:ext uri="{FF2B5EF4-FFF2-40B4-BE49-F238E27FC236}">
                <a16:creationId xmlns:a16="http://schemas.microsoft.com/office/drawing/2014/main" id="{B2394E59-5B64-4705-9EC2-6793E31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350-2">
            <a:extLst xmlns:a="http://schemas.openxmlformats.org/drawingml/2006/main">
              <a:ext uri="{FF2B5EF4-FFF2-40B4-BE49-F238E27FC236}">
                <a16:creationId xmlns:a16="http://schemas.microsoft.com/office/drawing/2014/main" id="{44309ADE-5109-4D93-A8E1-F511BC7A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18" name="timeline-title-350-2">
            <a:extLst xmlns:a="http://schemas.openxmlformats.org/drawingml/2006/main">
              <a:ext uri="{FF2B5EF4-FFF2-40B4-BE49-F238E27FC236}">
                <a16:creationId xmlns:a16="http://schemas.microsoft.com/office/drawing/2014/main" id="{BB252D5A-3B16-4DD1-B89F-C0918567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9" name="timeline-body-350-2">
            <a:extLst xmlns:a="http://schemas.openxmlformats.org/drawingml/2006/main">
              <a:ext uri="{FF2B5EF4-FFF2-40B4-BE49-F238E27FC236}">
                <a16:creationId xmlns:a16="http://schemas.microsoft.com/office/drawing/2014/main" id="{2A738398-E4BE-4484-9074-A01600EA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06D"/>
                </a:solidFill>
                <a:latin typeface="Arial"/>
                <a:ea typeface="Arial"/>
                <a:cs typeface="Arial"/>
              </a:rPr>
              <a:t>Capture the 12 recommended screenshots and add real measured results only when available</a:t>
            </a:r>
          </a:p>
        </p:txBody>
      </p:sp>
      <p:sp>
        <p:nvSpPr>
          <p:cNvPr id="20" name="close-next">
            <a:extLst xmlns:a="http://schemas.openxmlformats.org/drawingml/2006/main">
              <a:ext uri="{FF2B5EF4-FFF2-40B4-BE49-F238E27FC236}">
                <a16:creationId xmlns:a16="http://schemas.microsoft.com/office/drawing/2014/main" id="{4C2FC509-03FB-419F-A8F2-DE3F934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Start with Goal + Portfolio, then import the Project 1 sheet from the companion workbook.</a:t>
            </a:r>
          </a:p>
        </p:txBody>
      </p:sp>
    </p:spTree>
    <p:extLst>
      <p:ext uri="{BB962C8B-B14F-4D97-AF65-F5344CB8AC3E}">
        <p14:creationId xmlns:p14="http://schemas.microsoft.com/office/powerpoint/2010/main" val="1516387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2026-08-25T02:53:25.5250000Z</dcterms:created>
  <dcterms:modified xsi:type="dcterms:W3CDTF">2026-08-25T02:53:25.5250000Z</dcterms:modified>
</coreProperties>
</file>