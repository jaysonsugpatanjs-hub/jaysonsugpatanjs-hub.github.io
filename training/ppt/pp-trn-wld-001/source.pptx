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7" d="100"/>
          <a:sy n="47" d="100"/>
        </p:scale>
        <p:origin x="1392" y="5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43000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CB00"/>
                </a:solidFill>
                <a:latin typeface="Aptos"/>
              </a:rPr>
              <a:t>PEOPLE  |  SAFETY  |  QUALITY  |  PROGRESS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30BCB1-E679-A2A5-B466-1221227D3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Why hot work control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632577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dirty="0">
                <a:solidFill>
                  <a:srgbClr val="FFCB00"/>
                </a:solidFill>
                <a:latin typeface="Aptos"/>
              </a:rPr>
              <a:t>Hot work can injure people, damage property and create non-conformance if controls are missed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2/20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51560"/>
            <a:ext cx="4754880" cy="384048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01010"/>
                </a:solidFill>
                <a:latin typeface="Aptos"/>
              </a:rPr>
              <a:t>HOT WORK CREATES MULTIPLE RISKS AT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47548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CB00"/>
                </a:solidFill>
                <a:latin typeface="Aptos"/>
              </a:rPr>
              <a:t>• </a:t>
            </a:r>
            <a:r>
              <a:rPr sz="1700">
                <a:solidFill>
                  <a:srgbClr val="FFFFFF"/>
                </a:solidFill>
                <a:latin typeface="Aptos"/>
              </a:rPr>
              <a:t>Arc radiation can injure eyes and skin and affect nearby workers.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CB00"/>
                </a:solidFill>
                <a:latin typeface="Aptos"/>
              </a:rPr>
              <a:t>• </a:t>
            </a:r>
            <a:r>
              <a:rPr sz="1700">
                <a:solidFill>
                  <a:srgbClr val="FFFFFF"/>
                </a:solidFill>
                <a:latin typeface="Aptos"/>
              </a:rPr>
              <a:t>Welding fumes and airborne contaminants must be controlled at source where practicable.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CB00"/>
                </a:solidFill>
                <a:latin typeface="Aptos"/>
              </a:rPr>
              <a:t>• </a:t>
            </a:r>
            <a:r>
              <a:rPr sz="1700">
                <a:solidFill>
                  <a:srgbClr val="FFFFFF"/>
                </a:solidFill>
                <a:latin typeface="Aptos"/>
              </a:rPr>
              <a:t>Sparks, slag and hot metal can ignite combustible material or cause burns.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CB00"/>
                </a:solidFill>
                <a:latin typeface="Aptos"/>
              </a:rPr>
              <a:t>• </a:t>
            </a:r>
            <a:r>
              <a:rPr sz="1700">
                <a:solidFill>
                  <a:srgbClr val="FFFFFF"/>
                </a:solidFill>
                <a:latin typeface="Aptos"/>
              </a:rPr>
              <a:t>Defective leads, grinders, discs or gas systems can cause serious incidents.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CB00"/>
                </a:solidFill>
                <a:latin typeface="Aptos"/>
              </a:rPr>
              <a:t>• </a:t>
            </a:r>
            <a:r>
              <a:rPr sz="1700">
                <a:solidFill>
                  <a:srgbClr val="FFFFFF"/>
                </a:solidFill>
                <a:latin typeface="Aptos"/>
              </a:rPr>
              <a:t>Poor traceability, wrong WPS or missing records can affect quality and compliance.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500" b="1" dirty="0">
                <a:solidFill>
                  <a:srgbClr val="FFFFFF"/>
                </a:solidFill>
                <a:latin typeface="Aptos"/>
              </a:rPr>
              <a:t>Note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: hot work must be planned, controlled, monitored and recorded — not treated as routine.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E528B4D-70BC-C7D1-928A-BEF69AA82203}"/>
              </a:ext>
            </a:extLst>
          </p:cNvPr>
          <p:cNvGrpSpPr/>
          <p:nvPr/>
        </p:nvGrpSpPr>
        <p:grpSpPr>
          <a:xfrm>
            <a:off x="5687568" y="992124"/>
            <a:ext cx="6373368" cy="3442716"/>
            <a:chOff x="5687568" y="992124"/>
            <a:chExt cx="6135624" cy="3218688"/>
          </a:xfrm>
        </p:grpSpPr>
        <p:sp>
          <p:nvSpPr>
            <p:cNvPr id="12" name="Rectangle 11"/>
            <p:cNvSpPr/>
            <p:nvPr/>
          </p:nvSpPr>
          <p:spPr>
            <a:xfrm>
              <a:off x="5687568" y="996696"/>
              <a:ext cx="6135624" cy="3214116"/>
            </a:xfrm>
            <a:prstGeom prst="rect">
              <a:avLst/>
            </a:prstGeom>
            <a:solidFill>
              <a:srgbClr val="FFCB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wide_industrial_safety_training_infographic_scene_batch_1.png">
              <a:extLst>
                <a:ext uri="{FF2B5EF4-FFF2-40B4-BE49-F238E27FC236}">
                  <a16:creationId xmlns:a16="http://schemas.microsoft.com/office/drawing/2014/main" id="{4D3516EA-A10E-2E83-EB75-970634430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319" b="7012"/>
            <a:stretch>
              <a:fillRect/>
            </a:stretch>
          </p:blipFill>
          <p:spPr>
            <a:xfrm>
              <a:off x="5749055" y="992124"/>
              <a:ext cx="6033531" cy="31683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At the end of training, the employee should be able to...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3/20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234440"/>
            <a:ext cx="109728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CB00"/>
                </a:solidFill>
                <a:latin typeface="Aptos"/>
              </a:rPr>
              <a:t>• </a:t>
            </a:r>
            <a:r>
              <a:rPr sz="1900">
                <a:solidFill>
                  <a:srgbClr val="FFFFFF"/>
                </a:solidFill>
                <a:latin typeface="Aptos"/>
              </a:rPr>
              <a:t>Identify key hot-work hazards for MIG welding, grinding and hot metal handling.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FFCB00"/>
                </a:solidFill>
                <a:latin typeface="Aptos"/>
              </a:rPr>
              <a:t>• </a:t>
            </a:r>
            <a:r>
              <a:rPr sz="1900">
                <a:solidFill>
                  <a:srgbClr val="FFFFFF"/>
                </a:solidFill>
                <a:latin typeface="Aptos"/>
              </a:rPr>
              <a:t>Explain when SWMS, JSA, permit, fire watch, ventilation and exclusion controls are required.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FFCB00"/>
                </a:solidFill>
                <a:latin typeface="Aptos"/>
              </a:rPr>
              <a:t>• </a:t>
            </a:r>
            <a:r>
              <a:rPr sz="1900">
                <a:solidFill>
                  <a:srgbClr val="FFFFFF"/>
                </a:solidFill>
                <a:latin typeface="Aptos"/>
              </a:rPr>
              <a:t>Inspect PPE, welding equipment, electrical leads, gas cylinders and grinders before use.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FFCB00"/>
                </a:solidFill>
                <a:latin typeface="Aptos"/>
              </a:rPr>
              <a:t>• </a:t>
            </a:r>
            <a:r>
              <a:rPr sz="1900">
                <a:solidFill>
                  <a:srgbClr val="FFFFFF"/>
                </a:solidFill>
                <a:latin typeface="Aptos"/>
              </a:rPr>
              <a:t>Apply stop-work authority when conditions change or controls cannot be maintained.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FFCB00"/>
                </a:solidFill>
                <a:latin typeface="Aptos"/>
              </a:rPr>
              <a:t>• </a:t>
            </a:r>
            <a:r>
              <a:rPr sz="1900">
                <a:solidFill>
                  <a:srgbClr val="FFFFFF"/>
                </a:solidFill>
                <a:latin typeface="Aptos"/>
              </a:rPr>
              <a:t>Understand the online knowledge check and onsite competency verification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Competency requires knowledge, correct behaviour and supervisor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What counts as hot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Panalo Pipes activities that can create ignition sources, fumes or heat-related hazards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4/20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43000"/>
            <a:ext cx="5212080" cy="932688"/>
          </a:xfrm>
          <a:prstGeom prst="roundRect">
            <a:avLst/>
          </a:prstGeom>
          <a:solidFill>
            <a:srgbClr val="262626"/>
          </a:solidFill>
          <a:ln w="1524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500" b="1">
                <a:solidFill>
                  <a:srgbClr val="FFCB00"/>
                </a:solidFill>
                <a:latin typeface="Aptos"/>
              </a:rPr>
              <a:t>WELDING</a:t>
            </a:r>
          </a:p>
          <a:p>
            <a:r>
              <a:rPr sz="1300">
                <a:solidFill>
                  <a:srgbClr val="FFFFFF"/>
                </a:solidFill>
                <a:latin typeface="Aptos"/>
              </a:rPr>
              <a:t>MIG/GMAW, SMAW/MMAW, TIG/GTAW, tack welding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212080" cy="932688"/>
          </a:xfrm>
          <a:prstGeom prst="roundRect">
            <a:avLst/>
          </a:prstGeom>
          <a:solidFill>
            <a:srgbClr val="262626"/>
          </a:solidFill>
          <a:ln w="1524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500" b="1">
                <a:solidFill>
                  <a:srgbClr val="FFCB00"/>
                </a:solidFill>
                <a:latin typeface="Aptos"/>
              </a:rPr>
              <a:t>GRINDING</a:t>
            </a:r>
          </a:p>
          <a:p>
            <a:r>
              <a:rPr sz="1300">
                <a:solidFill>
                  <a:srgbClr val="FFFFFF"/>
                </a:solidFill>
                <a:latin typeface="Aptos"/>
              </a:rPr>
              <a:t>Angle grinding, cutting discs, surface preparation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9152"/>
            <a:ext cx="5212080" cy="932688"/>
          </a:xfrm>
          <a:prstGeom prst="roundRect">
            <a:avLst/>
          </a:prstGeom>
          <a:solidFill>
            <a:srgbClr val="262626"/>
          </a:solidFill>
          <a:ln w="1524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500" b="1">
                <a:solidFill>
                  <a:srgbClr val="FFCB00"/>
                </a:solidFill>
                <a:latin typeface="Aptos"/>
              </a:rPr>
              <a:t>THERMAL CUTTING</a:t>
            </a:r>
          </a:p>
          <a:p>
            <a:r>
              <a:rPr sz="1300">
                <a:solidFill>
                  <a:srgbClr val="FFFFFF"/>
                </a:solidFill>
                <a:latin typeface="Aptos"/>
              </a:rPr>
              <a:t>Oxy-fuel cutting, heating, gouging, plasma cutting where used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59152"/>
            <a:ext cx="5212080" cy="932688"/>
          </a:xfrm>
          <a:prstGeom prst="roundRect">
            <a:avLst/>
          </a:prstGeom>
          <a:solidFill>
            <a:srgbClr val="262626"/>
          </a:solidFill>
          <a:ln w="1524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500" b="1">
                <a:solidFill>
                  <a:srgbClr val="FFCB00"/>
                </a:solidFill>
                <a:latin typeface="Aptos"/>
              </a:rPr>
              <a:t>HOT METAL HANDLING</a:t>
            </a:r>
          </a:p>
          <a:p>
            <a:r>
              <a:rPr sz="1300">
                <a:solidFill>
                  <a:srgbClr val="FFFFFF"/>
                </a:solidFill>
                <a:latin typeface="Aptos"/>
              </a:rPr>
              <a:t>Newly welded/grinded parts, slag, hot workpieces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75304"/>
            <a:ext cx="5212080" cy="932688"/>
          </a:xfrm>
          <a:prstGeom prst="roundRect">
            <a:avLst/>
          </a:prstGeom>
          <a:solidFill>
            <a:srgbClr val="262626"/>
          </a:solidFill>
          <a:ln w="1524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500" b="1">
                <a:solidFill>
                  <a:srgbClr val="FFCB00"/>
                </a:solidFill>
                <a:latin typeface="Aptos"/>
              </a:rPr>
              <a:t>SPARK-PRODUCING TASKS</a:t>
            </a:r>
          </a:p>
          <a:p>
            <a:r>
              <a:rPr sz="1300">
                <a:solidFill>
                  <a:srgbClr val="FFFFFF"/>
                </a:solidFill>
                <a:latin typeface="Aptos"/>
              </a:rPr>
              <a:t>Any activity that can ignite combustibles or expose nearby people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Treat the task as hot work whenever heat, sparks, flames, molten metal, arc radiation or ignition sources may be produced.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5155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AU" sz="2800" b="1" dirty="0" err="1">
                <a:solidFill>
                  <a:srgbClr val="FFFFFF"/>
                </a:solidFill>
                <a:latin typeface="Aptos Display"/>
              </a:rPr>
              <a:t>Panalo</a:t>
            </a:r>
            <a:r>
              <a:rPr lang="en-AU" sz="2800" b="1" dirty="0">
                <a:solidFill>
                  <a:srgbClr val="FFFFFF"/>
                </a:solidFill>
                <a:latin typeface="Aptos Display"/>
              </a:rPr>
              <a:t> Pipes</a:t>
            </a:r>
            <a:r>
              <a:rPr sz="2800" b="1" dirty="0">
                <a:solidFill>
                  <a:srgbClr val="FFFFFF"/>
                </a:solidFill>
                <a:latin typeface="Aptos Display"/>
              </a:rPr>
              <a:t> requirements for hot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The training must link safety, quality, environment and document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5/20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2606040" cy="329184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01010"/>
                </a:solidFill>
                <a:latin typeface="Aptos"/>
              </a:rPr>
              <a:t>CONTROLLED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481328"/>
            <a:ext cx="2606040" cy="38862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Current SWMS/JSA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Procedure or client method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Latest revision only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Worker sign-on recorded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051560"/>
            <a:ext cx="2606040" cy="329184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01010"/>
                </a:solidFill>
                <a:latin typeface="Aptos"/>
              </a:rPr>
              <a:t>COMPETENCY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481328"/>
            <a:ext cx="2606040" cy="38862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Induction completed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Task training completed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Licences/tickets checked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Onsite observation where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051560"/>
            <a:ext cx="2606040" cy="329184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01010"/>
                </a:solidFill>
                <a:latin typeface="Aptos"/>
              </a:rPr>
              <a:t>CONSULTATION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481328"/>
            <a:ext cx="2606040" cy="38862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Toolbox talk before work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Hazards discussed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Changes reported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Workers can stop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1051560"/>
            <a:ext cx="2606040" cy="329184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01010"/>
                </a:solidFill>
                <a:latin typeface="Aptos"/>
              </a:rPr>
              <a:t>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481328"/>
            <a:ext cx="2606040" cy="38862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Training result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Permit / SWMS sign-on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Inspection checks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Incident, NCR or corrective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If the activity is not documented, communicated and verified, it is not controlled under the 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Hot work permit and authorisation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dirty="0">
                <a:solidFill>
                  <a:srgbClr val="FFCB00"/>
                </a:solidFill>
                <a:latin typeface="Aptos"/>
              </a:rPr>
              <a:t>Use this as the visual walkthrough before starting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6/20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" y="932688"/>
            <a:ext cx="11484864" cy="538581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erm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60120"/>
            <a:ext cx="11430000" cy="5330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SWMS / JSA control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dirty="0">
                <a:solidFill>
                  <a:srgbClr val="FFCB00"/>
                </a:solidFill>
                <a:latin typeface="Aptos"/>
              </a:rPr>
              <a:t>A SWMS supports higher-order controls and confirms how critical controls will be monitored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7/20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1874519" cy="438912"/>
          </a:xfrm>
          <a:prstGeom prst="rect">
            <a:avLst/>
          </a:prstGeom>
          <a:solidFill>
            <a:srgbClr val="FFCB0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01010"/>
                </a:solidFill>
                <a:latin typeface="Aptos"/>
              </a:rPr>
              <a:t>Work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005840"/>
            <a:ext cx="1965960" cy="438912"/>
          </a:xfrm>
          <a:prstGeom prst="rect">
            <a:avLst/>
          </a:prstGeom>
          <a:solidFill>
            <a:srgbClr val="FFCB0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01010"/>
                </a:solidFill>
                <a:latin typeface="Aptos"/>
              </a:rPr>
              <a:t>Critical hazard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005840"/>
            <a:ext cx="4023360" cy="438912"/>
          </a:xfrm>
          <a:prstGeom prst="rect">
            <a:avLst/>
          </a:prstGeom>
          <a:solidFill>
            <a:srgbClr val="FFCB0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01010"/>
                </a:solidFill>
                <a:latin typeface="Aptos"/>
              </a:rPr>
              <a:t>Control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005840"/>
            <a:ext cx="3291840" cy="438912"/>
          </a:xfrm>
          <a:prstGeom prst="rect">
            <a:avLst/>
          </a:prstGeom>
          <a:solidFill>
            <a:srgbClr val="FFCB0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01010"/>
                </a:solidFill>
                <a:latin typeface="Aptos"/>
              </a:rPr>
              <a:t>Verify before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444752"/>
            <a:ext cx="1874519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Prepare area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444752"/>
            <a:ext cx="1965960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Fire / nearby workers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444752"/>
            <a:ext cx="4023360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Remove or protect combustibles; set screens and exclusion zone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444752"/>
            <a:ext cx="3291840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Combustibles clear; barrier visible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112264"/>
            <a:ext cx="1874519" cy="667512"/>
          </a:xfrm>
          <a:prstGeom prst="rect">
            <a:avLst/>
          </a:prstGeom>
          <a:solidFill>
            <a:srgbClr val="30303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Set up welding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112264"/>
            <a:ext cx="1965960" cy="667512"/>
          </a:xfrm>
          <a:prstGeom prst="rect">
            <a:avLst/>
          </a:prstGeom>
          <a:solidFill>
            <a:srgbClr val="30303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Fumes / arc / electrical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2112264"/>
            <a:ext cx="4023360" cy="667512"/>
          </a:xfrm>
          <a:prstGeom prst="rect">
            <a:avLst/>
          </a:prstGeom>
          <a:solidFill>
            <a:srgbClr val="30303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LEV or ventilation; welding screen; inspect leads and earth return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2112264"/>
            <a:ext cx="3291840" cy="667512"/>
          </a:xfrm>
          <a:prstGeom prst="rect">
            <a:avLst/>
          </a:prstGeom>
          <a:solidFill>
            <a:srgbClr val="30303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Extractor positioned; leads undamaged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779776"/>
            <a:ext cx="1874519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Grind / cut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779776"/>
            <a:ext cx="1965960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Disc failure / sparks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779776"/>
            <a:ext cx="4023360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Correct disc, guard, handle, PPE, spark direction controlled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2779776"/>
            <a:ext cx="3291840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Disc rating OK; guard fitted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447288"/>
            <a:ext cx="1874519" cy="667512"/>
          </a:xfrm>
          <a:prstGeom prst="rect">
            <a:avLst/>
          </a:prstGeom>
          <a:solidFill>
            <a:srgbClr val="30303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Gas 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447288"/>
            <a:ext cx="1965960" cy="667512"/>
          </a:xfrm>
          <a:prstGeom prst="rect">
            <a:avLst/>
          </a:prstGeom>
          <a:solidFill>
            <a:srgbClr val="30303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Cylinder fall / leak / fire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3447288"/>
            <a:ext cx="4023360" cy="667512"/>
          </a:xfrm>
          <a:prstGeom prst="rect">
            <a:avLst/>
          </a:prstGeom>
          <a:solidFill>
            <a:srgbClr val="30303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Secure upright; check hoses, regulators and segregation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3447288"/>
            <a:ext cx="3291840" cy="667512"/>
          </a:xfrm>
          <a:prstGeom prst="rect">
            <a:avLst/>
          </a:prstGeom>
          <a:solidFill>
            <a:srgbClr val="30303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No leak or damage; cylinders chained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114800"/>
            <a:ext cx="1874519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Change in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4114800"/>
            <a:ext cx="1965960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Uncontrolled new risk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4114800"/>
            <a:ext cx="4023360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Stop, make safe, notify, reassess and update SWMS/JSA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4114800"/>
            <a:ext cx="3291840" cy="667512"/>
          </a:xfrm>
          <a:prstGeom prst="rect">
            <a:avLst/>
          </a:prstGeom>
          <a:solidFill>
            <a:srgbClr val="262626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45720" rtlCol="0" anchor="ctr"/>
          <a:lstStyle/>
          <a:p>
            <a:pPr algn="ctr"/>
            <a:r>
              <a:rPr sz="980">
                <a:solidFill>
                  <a:srgbClr val="FFFFFF"/>
                </a:solidFill>
                <a:latin typeface="Aptos"/>
              </a:rPr>
              <a:t>Supervisor authorises restart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 SWMS is not just a form — workers must understand, apply and monitor the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Hazard hotspot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8/20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8399F5-9C97-C447-DBFB-387ADC48ABCE}"/>
              </a:ext>
            </a:extLst>
          </p:cNvPr>
          <p:cNvGrpSpPr/>
          <p:nvPr/>
        </p:nvGrpSpPr>
        <p:grpSpPr>
          <a:xfrm>
            <a:off x="1124712" y="970336"/>
            <a:ext cx="10634472" cy="5128712"/>
            <a:chOff x="5687568" y="992124"/>
            <a:chExt cx="6135624" cy="321868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69A9D6-8AE5-98C1-1FC7-FD16939DC71F}"/>
                </a:ext>
              </a:extLst>
            </p:cNvPr>
            <p:cNvSpPr/>
            <p:nvPr/>
          </p:nvSpPr>
          <p:spPr>
            <a:xfrm>
              <a:off x="5687568" y="996696"/>
              <a:ext cx="6135624" cy="3214116"/>
            </a:xfrm>
            <a:prstGeom prst="rect">
              <a:avLst/>
            </a:prstGeom>
            <a:solidFill>
              <a:srgbClr val="FFCB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4" name="Picture 13" descr="wide_industrial_safety_training_infographic_scene_batch_1.png">
              <a:extLst>
                <a:ext uri="{FF2B5EF4-FFF2-40B4-BE49-F238E27FC236}">
                  <a16:creationId xmlns:a16="http://schemas.microsoft.com/office/drawing/2014/main" id="{ADC86AC5-29B5-0D1F-2446-2806B5942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319" b="7012"/>
            <a:stretch>
              <a:fillRect/>
            </a:stretch>
          </p:blipFill>
          <p:spPr>
            <a:xfrm>
              <a:off x="5749055" y="992124"/>
              <a:ext cx="6033531" cy="31683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Welding fumes and ventilation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Control exposure at source before relying on respiratory PPE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9/20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932688"/>
            <a:ext cx="11439144" cy="538581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ECD141F-61A2-BB18-A339-D03EDA7A93CA}"/>
              </a:ext>
            </a:extLst>
          </p:cNvPr>
          <p:cNvGrpSpPr/>
          <p:nvPr/>
        </p:nvGrpSpPr>
        <p:grpSpPr>
          <a:xfrm>
            <a:off x="411480" y="960120"/>
            <a:ext cx="11384280" cy="5330952"/>
            <a:chOff x="411480" y="960120"/>
            <a:chExt cx="11384280" cy="5330952"/>
          </a:xfrm>
        </p:grpSpPr>
        <p:pic>
          <p:nvPicPr>
            <p:cNvPr id="11" name="Picture 10" descr="vent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1480" y="960120"/>
              <a:ext cx="11384280" cy="533095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A973C2E-131F-8A14-9B8D-547D90FF6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960120"/>
              <a:ext cx="3300984" cy="9177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Hot work PPE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PPE is the final barrier — it must be selected, fitted, inspected and worn correctly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10/20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932688"/>
            <a:ext cx="11439144" cy="538581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4FCBAF3-19E0-E6E6-8A15-79D7380D1A60}"/>
              </a:ext>
            </a:extLst>
          </p:cNvPr>
          <p:cNvGrpSpPr/>
          <p:nvPr/>
        </p:nvGrpSpPr>
        <p:grpSpPr>
          <a:xfrm>
            <a:off x="411480" y="960120"/>
            <a:ext cx="11384280" cy="5330952"/>
            <a:chOff x="411480" y="960120"/>
            <a:chExt cx="11384280" cy="5330952"/>
          </a:xfrm>
        </p:grpSpPr>
        <p:pic>
          <p:nvPicPr>
            <p:cNvPr id="11" name="Picture 10" descr="ppe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1480" y="960120"/>
              <a:ext cx="11384280" cy="533095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2EFFED3-87B9-A2DF-82FC-396573C01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960120"/>
              <a:ext cx="3300984" cy="9177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Grinding safety: correct vs unsafe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Critical visual: grinder guard, correct disc, two-handed control and spark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11/20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B7E7B0-852A-3867-AE13-9F5E0FF83FCE}"/>
              </a:ext>
            </a:extLst>
          </p:cNvPr>
          <p:cNvGrpSpPr/>
          <p:nvPr/>
        </p:nvGrpSpPr>
        <p:grpSpPr>
          <a:xfrm>
            <a:off x="384048" y="932688"/>
            <a:ext cx="11439144" cy="5385816"/>
            <a:chOff x="384048" y="932688"/>
            <a:chExt cx="11439144" cy="5385816"/>
          </a:xfrm>
        </p:grpSpPr>
        <p:sp>
          <p:nvSpPr>
            <p:cNvPr id="10" name="Rectangle 9"/>
            <p:cNvSpPr/>
            <p:nvPr/>
          </p:nvSpPr>
          <p:spPr>
            <a:xfrm>
              <a:off x="384048" y="932688"/>
              <a:ext cx="11439144" cy="5385816"/>
            </a:xfrm>
            <a:prstGeom prst="rect">
              <a:avLst/>
            </a:prstGeom>
            <a:solidFill>
              <a:srgbClr val="FFCB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3" name="Picture 12" descr="wide_industrial_safety_infographic_split_into_two_batch_2.png">
              <a:extLst>
                <a:ext uri="{FF2B5EF4-FFF2-40B4-BE49-F238E27FC236}">
                  <a16:creationId xmlns:a16="http://schemas.microsoft.com/office/drawing/2014/main" id="{E1BE0863-6AAA-2806-3FE9-D02B16E1A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319" b="11011"/>
            <a:stretch>
              <a:fillRect/>
            </a:stretch>
          </p:blipFill>
          <p:spPr>
            <a:xfrm>
              <a:off x="454152" y="982979"/>
              <a:ext cx="11268456" cy="53007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Gas cylinder storage and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Critical visual: secure upright, protect valves, check hoses and keep away from ignition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12/20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932688"/>
            <a:ext cx="11439144" cy="538581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yli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84280" cy="53309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Fire prevention and fire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Fire controls must be ready before hot work starts and maintained after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13/20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932688"/>
            <a:ext cx="11439144" cy="538581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84280" cy="53309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Exclusion zones and nearby workers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Protect people not doing the work from arc flash, sparks, noise and flying particles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14/20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96128" y="1069848"/>
            <a:ext cx="6181344" cy="4443983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2344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Use screens or barriers to isolate arc radiation and grinding particles.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Keep unauthorised people out of the spark path and hot-metal zone.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Communicate with nearby trades before starting hot work.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Control hoses, leads and offcuts to reduce trip hazards.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Stop work when the exclusion zone cannot be maintained.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Hot work controls must protect the welder, the helper, nearby workers and the workplace.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B02C06-3E9F-8F7C-1B30-D6E7737D9EFA}"/>
              </a:ext>
            </a:extLst>
          </p:cNvPr>
          <p:cNvGrpSpPr/>
          <p:nvPr/>
        </p:nvGrpSpPr>
        <p:grpSpPr>
          <a:xfrm>
            <a:off x="5623560" y="1097280"/>
            <a:ext cx="6126480" cy="4389120"/>
            <a:chOff x="5623560" y="1097280"/>
            <a:chExt cx="6126480" cy="4389120"/>
          </a:xfrm>
        </p:grpSpPr>
        <p:pic>
          <p:nvPicPr>
            <p:cNvPr id="11" name="Picture 10" descr="hazard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3560" y="1097280"/>
              <a:ext cx="6126480" cy="438912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18F8D85-2D30-1662-31C0-D02D24D5E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23561" y="1124712"/>
              <a:ext cx="1453896" cy="502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Equipment pre-start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Do not energise damaged or unsuitable equipment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15/20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097280"/>
            <a:ext cx="5074920" cy="329184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1010"/>
                </a:solidFill>
                <a:latin typeface="Aptos"/>
              </a:rPr>
              <a:t>WELDER / MIG LEADS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17904"/>
            <a:ext cx="5074920" cy="141732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No exposed wires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Secure connections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Torch in good condition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Return clamp contact clean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074920" cy="329184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1010"/>
                </a:solidFill>
                <a:latin typeface="Aptos"/>
              </a:rPr>
              <a:t>GRINDER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17904"/>
            <a:ext cx="5074920" cy="141732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Correct disc for material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Disc intact and in-date where applicable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Guard fitted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Side handle installed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46120"/>
            <a:ext cx="5074920" cy="329184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1010"/>
                </a:solidFill>
                <a:latin typeface="Aptos"/>
              </a:rPr>
              <a:t>GAS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66744"/>
            <a:ext cx="5074920" cy="141732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Cylinder secured upright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Regulator and hose undamaged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Correct gas and labels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Leak check where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46120"/>
            <a:ext cx="5074920" cy="329184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1010"/>
                </a:solidFill>
                <a:latin typeface="Aptos"/>
              </a:rPr>
              <a:t>FIRE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66744"/>
            <a:ext cx="5074920" cy="141732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Extinguisher accessible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Combustibles removed/protected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Fire watch assigned where required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CB00"/>
                </a:solidFill>
              </a:rPr>
              <a:t>□ </a:t>
            </a:r>
            <a:r>
              <a:rPr sz="1300">
                <a:solidFill>
                  <a:srgbClr val="FFFFFF"/>
                </a:solidFill>
                <a:latin typeface="Aptos"/>
              </a:rPr>
              <a:t>Emergency access clear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Tag out, remove from service and report defects — do not “try it and see.”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Safe work 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dirty="0">
                <a:solidFill>
                  <a:srgbClr val="FFCB00"/>
                </a:solidFill>
                <a:latin typeface="Aptos"/>
              </a:rPr>
              <a:t>Use this sequence for workshop or site hot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16/20</a:t>
            </a:r>
          </a:p>
        </p:txBody>
      </p:sp>
      <p:sp>
        <p:nvSpPr>
          <p:cNvPr id="10" name="Oval 9"/>
          <p:cNvSpPr/>
          <p:nvPr/>
        </p:nvSpPr>
        <p:spPr>
          <a:xfrm>
            <a:off x="978408" y="1097280"/>
            <a:ext cx="658368" cy="658368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1010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74519"/>
            <a:ext cx="1691640" cy="3063240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t"/>
          <a:lstStyle/>
          <a:p>
            <a:pPr algn="ctr"/>
            <a:r>
              <a:rPr sz="1400" b="1">
                <a:solidFill>
                  <a:srgbClr val="FFCB00"/>
                </a:solidFill>
                <a:latin typeface="Aptos"/>
              </a:rPr>
              <a:t>PLAN</a:t>
            </a:r>
          </a:p>
          <a:p>
            <a:pPr algn="ctr"/>
            <a:r>
              <a:rPr sz="1180">
                <a:solidFill>
                  <a:srgbClr val="FFFFFF"/>
                </a:solidFill>
                <a:latin typeface="Aptos"/>
              </a:rPr>
              <a:t>Scope, drawings, WPS, SWMS/JSA, site rules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94560" y="2907792"/>
            <a:ext cx="338328" cy="384048"/>
          </a:xfrm>
          <a:prstGeom prst="rightArrow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80360" y="1097280"/>
            <a:ext cx="658368" cy="658368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1010"/>
                </a:solidFill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4872" y="1874519"/>
            <a:ext cx="1691640" cy="3063240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t"/>
          <a:lstStyle/>
          <a:p>
            <a:pPr algn="ctr"/>
            <a:r>
              <a:rPr sz="1400" b="1">
                <a:solidFill>
                  <a:srgbClr val="FFCB00"/>
                </a:solidFill>
                <a:latin typeface="Aptos"/>
              </a:rPr>
              <a:t>PREPARE</a:t>
            </a:r>
          </a:p>
          <a:p>
            <a:pPr algn="ctr"/>
            <a:r>
              <a:rPr sz="1180">
                <a:solidFill>
                  <a:srgbClr val="FFFFFF"/>
                </a:solidFill>
                <a:latin typeface="Aptos"/>
              </a:rPr>
              <a:t>Area, combustibles, ventilation, screens, exclusion zone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96512" y="2907792"/>
            <a:ext cx="338328" cy="384048"/>
          </a:xfrm>
          <a:prstGeom prst="rightArrow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82312" y="1097280"/>
            <a:ext cx="658368" cy="658368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1010"/>
                </a:solidFill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1874519"/>
            <a:ext cx="1691640" cy="3063240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t"/>
          <a:lstStyle/>
          <a:p>
            <a:pPr algn="ctr"/>
            <a:r>
              <a:rPr sz="1400" b="1">
                <a:solidFill>
                  <a:srgbClr val="FFCB00"/>
                </a:solidFill>
                <a:latin typeface="Aptos"/>
              </a:rPr>
              <a:t>INSPECT</a:t>
            </a:r>
          </a:p>
          <a:p>
            <a:pPr algn="ctr"/>
            <a:r>
              <a:rPr sz="1180">
                <a:solidFill>
                  <a:srgbClr val="FFFFFF"/>
                </a:solidFill>
                <a:latin typeface="Aptos"/>
              </a:rPr>
              <a:t>PPE, equipment, leads, cylinders, grinder, fire gear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907792"/>
            <a:ext cx="338328" cy="384048"/>
          </a:xfrm>
          <a:prstGeom prst="rightArrow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84264" y="1097280"/>
            <a:ext cx="658368" cy="658368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1010"/>
                </a:solidFill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874519"/>
            <a:ext cx="1691640" cy="3063240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t"/>
          <a:lstStyle/>
          <a:p>
            <a:pPr algn="ctr"/>
            <a:r>
              <a:rPr sz="1400" b="1">
                <a:solidFill>
                  <a:srgbClr val="FFCB00"/>
                </a:solidFill>
                <a:latin typeface="Aptos"/>
              </a:rPr>
              <a:t>WORK</a:t>
            </a:r>
          </a:p>
          <a:p>
            <a:pPr algn="ctr"/>
            <a:r>
              <a:rPr sz="1180">
                <a:solidFill>
                  <a:srgbClr val="FFFFFF"/>
                </a:solidFill>
                <a:latin typeface="Aptos"/>
              </a:rPr>
              <a:t>Maintain controls; keep fumes out of breathing zone; control sparks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00416" y="2907792"/>
            <a:ext cx="338328" cy="384048"/>
          </a:xfrm>
          <a:prstGeom prst="rightArrow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86216" y="1097280"/>
            <a:ext cx="658368" cy="658368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1010"/>
                </a:solidFill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1874519"/>
            <a:ext cx="1691640" cy="3063240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t"/>
          <a:lstStyle/>
          <a:p>
            <a:pPr algn="ctr"/>
            <a:r>
              <a:rPr sz="1400" b="1">
                <a:solidFill>
                  <a:srgbClr val="FFCB00"/>
                </a:solidFill>
                <a:latin typeface="Aptos"/>
              </a:rPr>
              <a:t>MONITOR</a:t>
            </a:r>
          </a:p>
          <a:p>
            <a:pPr algn="ctr"/>
            <a:r>
              <a:rPr sz="1180">
                <a:solidFill>
                  <a:srgbClr val="FFFFFF"/>
                </a:solidFill>
                <a:latin typeface="Aptos"/>
              </a:rPr>
              <a:t>Changing conditions, nearby people, heat, fire risk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02368" y="2907792"/>
            <a:ext cx="338328" cy="384048"/>
          </a:xfrm>
          <a:prstGeom prst="rightArrow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488168" y="1097280"/>
            <a:ext cx="658368" cy="658368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1010"/>
                </a:solidFill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1874519"/>
            <a:ext cx="1691640" cy="3063240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t"/>
          <a:lstStyle/>
          <a:p>
            <a:pPr algn="ctr"/>
            <a:r>
              <a:rPr sz="1400" b="1">
                <a:solidFill>
                  <a:srgbClr val="FFCB00"/>
                </a:solidFill>
                <a:latin typeface="Aptos"/>
              </a:rPr>
              <a:t>CLOSE OUT</a:t>
            </a:r>
          </a:p>
          <a:p>
            <a:pPr algn="ctr"/>
            <a:r>
              <a:rPr sz="1180">
                <a:solidFill>
                  <a:srgbClr val="FFFFFF"/>
                </a:solidFill>
                <a:latin typeface="Aptos"/>
              </a:rPr>
              <a:t>Cool/label hot metal, clean area, complete 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Sequence prevents missed controls — do not skip steps because the job looks simple.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Stop work and change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Use stop-work authority whenever a critical control is missing, failed or uncertain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17/20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097280"/>
            <a:ext cx="5166360" cy="493776"/>
          </a:xfrm>
          <a:prstGeom prst="roundRect">
            <a:avLst/>
          </a:prstGeom>
          <a:solidFill>
            <a:srgbClr val="262626"/>
          </a:solidFill>
          <a:ln>
            <a:solidFill>
              <a:srgbClr val="D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D22D2D"/>
                </a:solidFill>
                <a:latin typeface="Aptos"/>
              </a:rPr>
              <a:t>STOP: </a:t>
            </a:r>
            <a:r>
              <a:rPr sz="1250">
                <a:solidFill>
                  <a:srgbClr val="FFFFFF"/>
                </a:solidFill>
                <a:latin typeface="Aptos"/>
              </a:rPr>
              <a:t>SWMS/JSA does not match the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166360" cy="493776"/>
          </a:xfrm>
          <a:prstGeom prst="roundRect">
            <a:avLst/>
          </a:prstGeom>
          <a:solidFill>
            <a:srgbClr val="262626"/>
          </a:solidFill>
          <a:ln>
            <a:solidFill>
              <a:srgbClr val="D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D22D2D"/>
                </a:solidFill>
                <a:latin typeface="Aptos"/>
              </a:rPr>
              <a:t>STOP: </a:t>
            </a:r>
            <a:r>
              <a:rPr sz="1250">
                <a:solidFill>
                  <a:srgbClr val="FFFFFF"/>
                </a:solidFill>
                <a:latin typeface="Aptos"/>
              </a:rPr>
              <a:t>Permit missing or expired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55648"/>
            <a:ext cx="5166360" cy="493776"/>
          </a:xfrm>
          <a:prstGeom prst="roundRect">
            <a:avLst/>
          </a:prstGeom>
          <a:solidFill>
            <a:srgbClr val="262626"/>
          </a:solidFill>
          <a:ln>
            <a:solidFill>
              <a:srgbClr val="D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D22D2D"/>
                </a:solidFill>
                <a:latin typeface="Aptos"/>
              </a:rPr>
              <a:t>STOP: </a:t>
            </a:r>
            <a:r>
              <a:rPr sz="1250">
                <a:solidFill>
                  <a:srgbClr val="FFFFFF"/>
                </a:solidFill>
                <a:latin typeface="Aptos"/>
              </a:rPr>
              <a:t>Ventilation unavailable or ineffective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55648"/>
            <a:ext cx="5166360" cy="493776"/>
          </a:xfrm>
          <a:prstGeom prst="roundRect">
            <a:avLst/>
          </a:prstGeom>
          <a:solidFill>
            <a:srgbClr val="262626"/>
          </a:solidFill>
          <a:ln>
            <a:solidFill>
              <a:srgbClr val="D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D22D2D"/>
                </a:solidFill>
                <a:latin typeface="Aptos"/>
              </a:rPr>
              <a:t>STOP: </a:t>
            </a:r>
            <a:r>
              <a:rPr sz="1250">
                <a:solidFill>
                  <a:srgbClr val="FFFFFF"/>
                </a:solidFill>
                <a:latin typeface="Aptos"/>
              </a:rPr>
              <a:t>Grinder guard/disc/lead defective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14015"/>
            <a:ext cx="5166360" cy="493776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D22D2D"/>
                </a:solidFill>
                <a:latin typeface="Aptos"/>
              </a:rPr>
              <a:t>STOP: </a:t>
            </a:r>
            <a:r>
              <a:rPr sz="1250">
                <a:solidFill>
                  <a:srgbClr val="FFFFFF"/>
                </a:solidFill>
                <a:latin typeface="Aptos"/>
              </a:rPr>
              <a:t>Combustibles cannot be removed or protected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414015"/>
            <a:ext cx="5166360" cy="493776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D22D2D"/>
                </a:solidFill>
                <a:latin typeface="Aptos"/>
              </a:rPr>
              <a:t>STOP: </a:t>
            </a:r>
            <a:r>
              <a:rPr sz="1250">
                <a:solidFill>
                  <a:srgbClr val="FFFFFF"/>
                </a:solidFill>
                <a:latin typeface="Aptos"/>
              </a:rPr>
              <a:t>Cylinder, regulator or hose damage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072384"/>
            <a:ext cx="5166360" cy="493776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D22D2D"/>
                </a:solidFill>
                <a:latin typeface="Aptos"/>
              </a:rPr>
              <a:t>STOP: </a:t>
            </a:r>
            <a:r>
              <a:rPr sz="1250">
                <a:solidFill>
                  <a:srgbClr val="FFFFFF"/>
                </a:solidFill>
                <a:latin typeface="Aptos"/>
              </a:rPr>
              <a:t>Unauthorised person enters the exclusion zone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72384"/>
            <a:ext cx="5166360" cy="493776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D22D2D"/>
                </a:solidFill>
                <a:latin typeface="Aptos"/>
              </a:rPr>
              <a:t>STOP: </a:t>
            </a:r>
            <a:r>
              <a:rPr sz="1250">
                <a:solidFill>
                  <a:srgbClr val="FFFFFF"/>
                </a:solidFill>
                <a:latin typeface="Aptos"/>
              </a:rPr>
              <a:t>Worker is unsure how to continue safely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03520"/>
            <a:ext cx="10972800" cy="384048"/>
          </a:xfrm>
          <a:prstGeom prst="roundRect">
            <a:avLst/>
          </a:prstGeom>
          <a:solidFill>
            <a:srgbClr val="D2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STOP → MAKE SAFE → NOTIFY SUPERVISOR → REASSESS → UPDATE SWMS/JSA/PERMIT IF REQUIRED → AUTHORISE RESTART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No disciplinary action should arise from a genuine stop-work action raised for safety.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Emergency and incident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Respond early, report accurately and preserve evidence where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18/20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3368" y="1161288"/>
            <a:ext cx="5404103" cy="4215383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4924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1234440"/>
            <a:ext cx="5349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Raise the alarm and stop work immediately.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Make the area safe only if you are trained and it is safe to do so.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Use fire equipment only if competent, exit route is clear and fire is small.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Treat burns, arc-eye, electric shock, fume symptoms and near misses as reportable.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CB00"/>
                </a:solidFill>
                <a:latin typeface="Aptos"/>
              </a:rPr>
              <a:t>• </a:t>
            </a:r>
            <a:r>
              <a:rPr sz="1800">
                <a:solidFill>
                  <a:srgbClr val="FFFFFF"/>
                </a:solidFill>
                <a:latin typeface="Aptos"/>
              </a:rPr>
              <a:t>Notify supervisor and complete incident/near-miss records under IMS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Early reporting protects people and gives Panalo the evidence needed for corrective action.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9728"/>
            <a:ext cx="105155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dirty="0">
                <a:solidFill>
                  <a:srgbClr val="FFFFFF"/>
                </a:solidFill>
                <a:latin typeface="Aptos Display"/>
              </a:rPr>
              <a:t>Quality and </a:t>
            </a:r>
            <a:r>
              <a:rPr lang="en-AU" sz="2300" b="1" dirty="0">
                <a:solidFill>
                  <a:srgbClr val="FFFFFF"/>
                </a:solidFill>
                <a:latin typeface="Aptos Display"/>
              </a:rPr>
              <a:t>Integrated Management System </a:t>
            </a:r>
            <a:r>
              <a:rPr sz="2300" b="1" dirty="0">
                <a:solidFill>
                  <a:srgbClr val="FFFFFF"/>
                </a:solidFill>
                <a:latin typeface="Aptos Display"/>
              </a:rPr>
              <a:t>controls during hot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Safety and quality controls must work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19/20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097280"/>
            <a:ext cx="3383280" cy="347472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1010"/>
                </a:solidFill>
                <a:latin typeface="Aptos"/>
              </a:rPr>
              <a:t>BEFORE WELDING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81912"/>
            <a:ext cx="3383280" cy="3246120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Correct drawing/specification available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Approved WPS selected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Welder qualification/WPQ checked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Material and heat number 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097280"/>
            <a:ext cx="3383280" cy="347472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1010"/>
                </a:solidFill>
                <a:latin typeface="Aptos"/>
              </a:rPr>
              <a:t>DURING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81912"/>
            <a:ext cx="3383280" cy="3246120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Weld ID / welder ID maintained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Fit-up and tacks checked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Parameters controlled as required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Non-conforming conditions stopped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097280"/>
            <a:ext cx="3383280" cy="347472"/>
          </a:xfrm>
          <a:prstGeom prst="round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1010"/>
                </a:solidFill>
                <a:latin typeface="Aptos"/>
              </a:rPr>
              <a:t>AFTER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81912"/>
            <a:ext cx="3383280" cy="3246120"/>
          </a:xfrm>
          <a:prstGeom prst="roundRect">
            <a:avLst/>
          </a:prstGeom>
          <a:solidFill>
            <a:srgbClr val="262626"/>
          </a:solidFill>
          <a:ln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Inspection completed per ITP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NDT request raised where required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NCR raised for defects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CB00"/>
                </a:solidFill>
              </a:rPr>
              <a:t>✓ </a:t>
            </a:r>
            <a:r>
              <a:rPr sz="1300">
                <a:solidFill>
                  <a:srgbClr val="FFFFFF"/>
                </a:solidFill>
                <a:latin typeface="Aptos"/>
              </a:rPr>
              <a:t>Records filed under document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Wrong WPS, lost traceability or missed inspection is an IMS failure — not only a production issue.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999" cy="32004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 Pana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097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Five critical hot-work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03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CB00"/>
                </a:solidFill>
                <a:latin typeface="Aptos"/>
              </a:rPr>
              <a:t>Worker memory anchors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61111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CDCDCD"/>
                </a:solidFill>
                <a:latin typeface="Aptos"/>
              </a:rPr>
              <a:t>PP-TRN-WLD-001  |  Hot Work: MIG Welding and Grinding Safety  |  Draft Rev 1  |  VERIFY BEFORE CONTROLLED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61111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CDCDCD"/>
                </a:solidFill>
                <a:latin typeface="Aptos"/>
              </a:rPr>
              <a:t>20/20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1005840"/>
            <a:ext cx="530352" cy="530352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101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0332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Read and follow the current SWMS/JSA before starting.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1874519"/>
            <a:ext cx="530352" cy="530352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101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901951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Control fumes, fire, sparks and hot metal at source.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743200"/>
            <a:ext cx="530352" cy="530352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101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77063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Inspect PPE, welder, grinder, leads and gas systems before use.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11879"/>
            <a:ext cx="530352" cy="530352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1010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639311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Keep cylinders secured and exclusion zones controlled.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480560"/>
            <a:ext cx="530352" cy="530352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1010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0799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Stop work if conditions are unsafe, unclear or changed.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806440"/>
            <a:ext cx="10881360" cy="502920"/>
          </a:xfrm>
          <a:prstGeom prst="roundRect">
            <a:avLst/>
          </a:prstGeom>
          <a:solidFill>
            <a:srgbClr val="262626"/>
          </a:solidFill>
          <a:ln w="17780">
            <a:solidFill>
              <a:srgbClr val="FF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No job is urgent enough to skip a critical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1819</Words>
  <Application>Microsoft Office PowerPoint</Application>
  <PresentationFormat>Widescreen</PresentationFormat>
  <Paragraphs>235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Jayson Sugpatan</cp:lastModifiedBy>
  <cp:revision>6</cp:revision>
  <dcterms:created xsi:type="dcterms:W3CDTF">2013-01-27T09:14:16Z</dcterms:created>
  <dcterms:modified xsi:type="dcterms:W3CDTF">2026-09-28T08:37:00Z</dcterms:modified>
  <cp:category/>
</cp:coreProperties>
</file>