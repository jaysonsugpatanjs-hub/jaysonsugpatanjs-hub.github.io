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Hot Work: MIG Welding and Grinding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Hybrid training module for boilermakers, welders and trade assistants</a:t>
            </a:r>
          </a:p>
        </p:txBody>
      </p:sp>
      <p:pic>
        <p:nvPicPr>
          <p:cNvPr id="4" name="Picture 3" descr="wide_industrial_safety_training_infographic_scene_batch_1.png"/>
          <p:cNvPicPr>
            <a:picLocks noChangeAspect="1"/>
          </p:cNvPicPr>
          <p:nvPr/>
        </p:nvPicPr>
        <p:blipFill>
          <a:blip r:embed="rId2"/>
          <a:srcRect t="11011" b="11011"/>
          <a:stretch>
            <a:fillRect/>
          </a:stretch>
        </p:blipFill>
        <p:spPr>
          <a:xfrm>
            <a:off x="0" y="1005840"/>
            <a:ext cx="12188952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At the end of training, the employee should be able to...</a:t>
            </a:r>
          </a:p>
        </p:txBody>
      </p:sp>
      <p:pic>
        <p:nvPicPr>
          <p:cNvPr id="4" name="Picture 3" descr="a_wide_instructional_safety_poster_style_image_in_batch_1.png"/>
          <p:cNvPicPr>
            <a:picLocks noChangeAspect="1"/>
          </p:cNvPicPr>
          <p:nvPr/>
        </p:nvPicPr>
        <p:blipFill>
          <a:blip r:embed="rId2"/>
          <a:srcRect l="12895" r="12895"/>
          <a:stretch>
            <a:fillRect/>
          </a:stretch>
        </p:blipFill>
        <p:spPr>
          <a:xfrm>
            <a:off x="4892040" y="1024128"/>
            <a:ext cx="681228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234440"/>
            <a:ext cx="3977639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Identify MIG welding and grinding hazards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Select and inspect PPE and equipment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Apply hierarchy-of-control principles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Follow SWMS/JSA, stop-work and emergency steps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Recognise quality and traceability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57216"/>
            <a:ext cx="3977639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94960"/>
            <a:ext cx="3977639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Competency needs knowledge plus onsite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What the activity is and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MIG welding, tack welding, grinding and hot metal handling</a:t>
            </a:r>
          </a:p>
        </p:txBody>
      </p:sp>
      <p:pic>
        <p:nvPicPr>
          <p:cNvPr id="4" name="Picture 3" descr="a_wide_high_resolution_safety_training_infographi_batch_3.png"/>
          <p:cNvPicPr>
            <a:picLocks noChangeAspect="1"/>
          </p:cNvPicPr>
          <p:nvPr/>
        </p:nvPicPr>
        <p:blipFill>
          <a:blip r:embed="rId2"/>
          <a:srcRect l="15136" r="15136"/>
          <a:stretch>
            <a:fillRect/>
          </a:stretch>
        </p:blipFill>
        <p:spPr>
          <a:xfrm>
            <a:off x="457200" y="1024128"/>
            <a:ext cx="64008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34440"/>
            <a:ext cx="406908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Creates or prepares welded fabricated components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May be done in workshop or client site as assigned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Only authorised/competent workers may perform the task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Incorrect setup can cause fire, injury, defects or rework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157216"/>
            <a:ext cx="406908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94960"/>
            <a:ext cx="4069080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Hot work must be controlled before sparks are created.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Hierarchy of controls applied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Do not jump straight to PPE</a:t>
            </a:r>
          </a:p>
        </p:txBody>
      </p:sp>
      <p:pic>
        <p:nvPicPr>
          <p:cNvPr id="4" name="Picture 3" descr="wide_industrial_training_poster_infographic_styl_batch_3.png"/>
          <p:cNvPicPr>
            <a:picLocks noChangeAspect="1"/>
          </p:cNvPicPr>
          <p:nvPr/>
        </p:nvPicPr>
        <p:blipFill>
          <a:blip r:embed="rId2"/>
          <a:srcRect l="12895" r="12895"/>
          <a:stretch>
            <a:fillRect/>
          </a:stretch>
        </p:blipFill>
        <p:spPr>
          <a:xfrm>
            <a:off x="4892040" y="1024128"/>
            <a:ext cx="681228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234440"/>
            <a:ext cx="3977639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Eliminate or substitute where practical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Use engineering controls: source capture, ventilation, guarding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Use administrative controls: SWMS/JSA, permits, exclusion zones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Use PPE as the final barrier, not the only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57216"/>
            <a:ext cx="3977639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94960"/>
            <a:ext cx="3977639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Ventilation and source capture come before relying on respirators.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SWMS / procedure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Plain worker-language expectations</a:t>
            </a:r>
          </a:p>
        </p:txBody>
      </p:sp>
      <p:pic>
        <p:nvPicPr>
          <p:cNvPr id="4" name="Picture 3" descr="a_clean_infographic_poster_style_image_horizont_batch_4.png"/>
          <p:cNvPicPr>
            <a:picLocks noChangeAspect="1"/>
          </p:cNvPicPr>
          <p:nvPr/>
        </p:nvPicPr>
        <p:blipFill>
          <a:blip r:embed="rId2"/>
          <a:srcRect l="15136" r="15136"/>
          <a:stretch>
            <a:fillRect/>
          </a:stretch>
        </p:blipFill>
        <p:spPr>
          <a:xfrm>
            <a:off x="457200" y="1024128"/>
            <a:ext cx="64008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34440"/>
            <a:ext cx="406908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Read and follow the current approved SWMS/JSA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Check job scope, site rules and required controls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Use approved equipment, PPE and consumables only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Pause and reassess if anything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157216"/>
            <a:ext cx="406908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94960"/>
            <a:ext cx="4069080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If the work changes, controls must be reviewed before restart.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Correct vs unsafe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Grinders can cause severe injuries</a:t>
            </a:r>
          </a:p>
        </p:txBody>
      </p:sp>
      <p:pic>
        <p:nvPicPr>
          <p:cNvPr id="4" name="Picture 3" descr="wide_industrial_safety_infographic_split_into_two_batch_2.png"/>
          <p:cNvPicPr>
            <a:picLocks noChangeAspect="1"/>
          </p:cNvPicPr>
          <p:nvPr/>
        </p:nvPicPr>
        <p:blipFill>
          <a:blip r:embed="rId2"/>
          <a:srcRect t="11011" b="11011"/>
          <a:stretch>
            <a:fillRect/>
          </a:stretch>
        </p:blipFill>
        <p:spPr>
          <a:xfrm>
            <a:off x="0" y="1005840"/>
            <a:ext cx="12188952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Safe work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Follow a controlled sequence</a:t>
            </a:r>
          </a:p>
        </p:txBody>
      </p:sp>
      <p:pic>
        <p:nvPicPr>
          <p:cNvPr id="4" name="Picture 3" descr="a_wide_high_resolution_safety_training_infographi_batch_3.png"/>
          <p:cNvPicPr>
            <a:picLocks noChangeAspect="1"/>
          </p:cNvPicPr>
          <p:nvPr/>
        </p:nvPicPr>
        <p:blipFill>
          <a:blip r:embed="rId2"/>
          <a:srcRect l="12895" r="12895"/>
          <a:stretch>
            <a:fillRect/>
          </a:stretch>
        </p:blipFill>
        <p:spPr>
          <a:xfrm>
            <a:off x="4892040" y="1024128"/>
            <a:ext cx="681228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234440"/>
            <a:ext cx="3977639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Confirm job scope, SWMS/JSA and authorisation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Prepare work area, controls, screens and fire equipment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Inspect PPE, welder, grinder, leads and cylinders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Perform work within controls and monitor changing conditions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Shutdown, cool/label hot metal, clean area and complete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57216"/>
            <a:ext cx="3977639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94960"/>
            <a:ext cx="3977639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Sequence prevents missed controls.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Stop-work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STOP → MAKE SAFE → NOTIFY → REASSESS → UPDATE → AUTHORISE</a:t>
            </a:r>
          </a:p>
        </p:txBody>
      </p:sp>
      <p:pic>
        <p:nvPicPr>
          <p:cNvPr id="4" name="Picture 3" descr="a_clean_infographic_poster_style_image_horizont_batch_4.png"/>
          <p:cNvPicPr>
            <a:picLocks noChangeAspect="1"/>
          </p:cNvPicPr>
          <p:nvPr/>
        </p:nvPicPr>
        <p:blipFill>
          <a:blip r:embed="rId2"/>
          <a:srcRect t="11011" b="11011"/>
          <a:stretch>
            <a:fillRect/>
          </a:stretch>
        </p:blipFill>
        <p:spPr>
          <a:xfrm>
            <a:off x="0" y="1005840"/>
            <a:ext cx="12188952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Emergency and incident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Respond early and report correctly</a:t>
            </a:r>
          </a:p>
        </p:txBody>
      </p:sp>
      <p:pic>
        <p:nvPicPr>
          <p:cNvPr id="4" name="Picture 3" descr="a_wide_high_resolution_safety_training_infographi_batch_3.png"/>
          <p:cNvPicPr>
            <a:picLocks noChangeAspect="1"/>
          </p:cNvPicPr>
          <p:nvPr/>
        </p:nvPicPr>
        <p:blipFill>
          <a:blip r:embed="rId2"/>
          <a:srcRect l="15136" r="15136"/>
          <a:stretch>
            <a:fillRect/>
          </a:stretch>
        </p:blipFill>
        <p:spPr>
          <a:xfrm>
            <a:off x="457200" y="1024128"/>
            <a:ext cx="64008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34440"/>
            <a:ext cx="406908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Raise alarm and make the area safe if safe to do so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Use extinguisher only if trained and safe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Treat burns, eye injury, shock or fume symptoms as reportable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Notify supervisor and complete incident/near-miss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157216"/>
            <a:ext cx="406908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94960"/>
            <a:ext cx="4069080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Small incidents can become major if not reported early.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Quality / IMS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Safety and quality are connected</a:t>
            </a:r>
          </a:p>
        </p:txBody>
      </p:sp>
      <p:pic>
        <p:nvPicPr>
          <p:cNvPr id="4" name="Picture 3" descr="wide_infographic_poster_clean_corporate_training_batch_4.png"/>
          <p:cNvPicPr>
            <a:picLocks noChangeAspect="1"/>
          </p:cNvPicPr>
          <p:nvPr/>
        </p:nvPicPr>
        <p:blipFill>
          <a:blip r:embed="rId2"/>
          <a:srcRect t="11011" b="11011"/>
          <a:stretch>
            <a:fillRect/>
          </a:stretch>
        </p:blipFill>
        <p:spPr>
          <a:xfrm>
            <a:off x="0" y="1005840"/>
            <a:ext cx="12188952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Scenario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Supervisor-led discussion</a:t>
            </a:r>
          </a:p>
        </p:txBody>
      </p:sp>
      <p:pic>
        <p:nvPicPr>
          <p:cNvPr id="4" name="Picture 3" descr="wide_industrial_safety_infographic_split_into_two_batch_2.png"/>
          <p:cNvPicPr>
            <a:picLocks noChangeAspect="1"/>
          </p:cNvPicPr>
          <p:nvPr/>
        </p:nvPicPr>
        <p:blipFill>
          <a:blip r:embed="rId2"/>
          <a:srcRect l="12895" r="12895"/>
          <a:stretch>
            <a:fillRect/>
          </a:stretch>
        </p:blipFill>
        <p:spPr>
          <a:xfrm>
            <a:off x="4892040" y="1024128"/>
            <a:ext cx="681228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234440"/>
            <a:ext cx="3977639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You find a cracked grinding disc during pre-start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Sparks are landing near oily rags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The extraction hood is unavailable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A client asks you to change the work 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57216"/>
            <a:ext cx="3977639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94960"/>
            <a:ext cx="3977639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The correct answer starts with stop, make safe and reassess.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Five things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Worker memory anchors</a:t>
            </a:r>
          </a:p>
        </p:txBody>
      </p:sp>
      <p:pic>
        <p:nvPicPr>
          <p:cNvPr id="4" name="Picture 3" descr="wide_industrial_safety_training_infographic_scene_batch_1.png"/>
          <p:cNvPicPr>
            <a:picLocks noChangeAspect="1"/>
          </p:cNvPicPr>
          <p:nvPr/>
        </p:nvPicPr>
        <p:blipFill>
          <a:blip r:embed="rId2"/>
          <a:srcRect l="15136" r="15136"/>
          <a:stretch>
            <a:fillRect/>
          </a:stretch>
        </p:blipFill>
        <p:spPr>
          <a:xfrm>
            <a:off x="457200" y="1024128"/>
            <a:ext cx="64008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34440"/>
            <a:ext cx="4069080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Read the current SWMS/JSA before starting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Control fumes, fire, sparks and hot metal at source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Check grinder guard/disc and electrical leads every time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Keep cylinders secured and the exclusion zone controlled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Stop work if conditions are unsafe or unclear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157216"/>
            <a:ext cx="4069080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94960"/>
            <a:ext cx="4069080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No job is urgent enough to skip a critical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2600" b="1">
                <a:solidFill>
                  <a:srgbClr val="0B1F3A"/>
                </a:solidFill>
                <a:latin typeface="Aptos"/>
              </a:defRPr>
            </a:pPr>
            <a:r>
              <a:t>Assessment and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9144000" cy="2194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950" b="1">
                <a:solidFill>
                  <a:srgbClr val="0F766E"/>
                </a:solidFill>
                <a:latin typeface="Aptos"/>
              </a:defRPr>
            </a:pPr>
            <a:r>
              <a:t>Theory + practical verification</a:t>
            </a:r>
          </a:p>
        </p:txBody>
      </p:sp>
      <p:pic>
        <p:nvPicPr>
          <p:cNvPr id="4" name="Picture 3" descr="a_wide_instructional_safety_poster_style_image_in_batch_1.png"/>
          <p:cNvPicPr>
            <a:picLocks noChangeAspect="1"/>
          </p:cNvPicPr>
          <p:nvPr/>
        </p:nvPicPr>
        <p:blipFill>
          <a:blip r:embed="rId2"/>
          <a:srcRect l="12895" r="12895"/>
          <a:stretch>
            <a:fillRect/>
          </a:stretch>
        </p:blipFill>
        <p:spPr>
          <a:xfrm>
            <a:off x="4892040" y="1024128"/>
            <a:ext cx="681228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234440"/>
            <a:ext cx="3977639" cy="3520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Complete Google Forms knowledge assessment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Pass rule: 80% overall and 100% critical questions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Complete onsite practical demonstration where required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  <a:latin typeface="Aptos"/>
              </a:defRPr>
            </a:pPr>
            <a:r>
              <a:t>• Final status: competent/authorised, theory passed-practical pending, or further training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57216"/>
            <a:ext cx="3977639" cy="182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800" b="1">
                <a:solidFill>
                  <a:srgbClr val="006B3F"/>
                </a:solidFill>
                <a:latin typeface="Aptos"/>
              </a:defRPr>
            </a:pPr>
            <a:r>
              <a:t>Key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94960"/>
            <a:ext cx="3977639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Aptos"/>
              </a:defRPr>
            </a:pPr>
            <a:r>
              <a:t>A quiz pass is not practical authorisation.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10528"/>
            <a:ext cx="1152144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defRPr sz="750" b="0">
                <a:solidFill>
                  <a:srgbClr val="6B7280"/>
                </a:solidFill>
                <a:latin typeface="Aptos"/>
              </a:defRPr>
            </a:pPr>
            <a:r>
              <a:t>PP-TRN-WLD-001  |  Draft Rev 0  |  VERIFY BEFORE ISSUE  | 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